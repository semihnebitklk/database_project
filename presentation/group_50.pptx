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62" r:id="rId2"/>
    <p:sldId id="280" r:id="rId3"/>
    <p:sldId id="277" r:id="rId4"/>
    <p:sldId id="278" r:id="rId5"/>
    <p:sldId id="279" r:id="rId6"/>
    <p:sldId id="289" r:id="rId7"/>
    <p:sldId id="276" r:id="rId8"/>
    <p:sldId id="290" r:id="rId9"/>
    <p:sldId id="263" r:id="rId10"/>
    <p:sldId id="256" r:id="rId11"/>
    <p:sldId id="257" r:id="rId12"/>
    <p:sldId id="258" r:id="rId13"/>
    <p:sldId id="259" r:id="rId14"/>
    <p:sldId id="260" r:id="rId15"/>
    <p:sldId id="261" r:id="rId16"/>
    <p:sldId id="264" r:id="rId17"/>
    <p:sldId id="265" r:id="rId18"/>
    <p:sldId id="266" r:id="rId19"/>
    <p:sldId id="267" r:id="rId20"/>
    <p:sldId id="268" r:id="rId21"/>
    <p:sldId id="269" r:id="rId22"/>
    <p:sldId id="270" r:id="rId23"/>
    <p:sldId id="271" r:id="rId24"/>
    <p:sldId id="272" r:id="rId25"/>
    <p:sldId id="273" r:id="rId26"/>
    <p:sldId id="274" r:id="rId27"/>
    <p:sldId id="288" r:id="rId28"/>
    <p:sldId id="281" r:id="rId29"/>
    <p:sldId id="282" r:id="rId30"/>
    <p:sldId id="283" r:id="rId31"/>
    <p:sldId id="284" r:id="rId32"/>
    <p:sldId id="285" r:id="rId33"/>
    <p:sldId id="286" r:id="rId34"/>
    <p:sldId id="287" r:id="rId35"/>
    <p:sldId id="275"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DC3064-38A0-A2E5-0B94-D967A9F44494}" v="3" dt="2025-05-10T17:13:35.8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64" autoAdjust="0"/>
    <p:restoredTop sz="96283" autoAdjust="0"/>
  </p:normalViewPr>
  <p:slideViewPr>
    <p:cSldViewPr snapToGrid="0">
      <p:cViewPr varScale="1">
        <p:scale>
          <a:sx n="100" d="100"/>
          <a:sy n="100" d="100"/>
        </p:scale>
        <p:origin x="108"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MIH NEBI TOKALAK" userId="S::2210206050@ogrenci.karabuk.edu.tr::2ee877b7-8cc3-4157-838a-01a7c503a06d" providerId="AD" clId="Web-{F7DC3064-38A0-A2E5-0B94-D967A9F44494}"/>
    <pc:docChg chg="sldOrd">
      <pc:chgData name="SEMIH NEBI TOKALAK" userId="S::2210206050@ogrenci.karabuk.edu.tr::2ee877b7-8cc3-4157-838a-01a7c503a06d" providerId="AD" clId="Web-{F7DC3064-38A0-A2E5-0B94-D967A9F44494}" dt="2025-05-10T17:13:35.863" v="2"/>
      <pc:docMkLst>
        <pc:docMk/>
      </pc:docMkLst>
      <pc:sldChg chg="ord">
        <pc:chgData name="SEMIH NEBI TOKALAK" userId="S::2210206050@ogrenci.karabuk.edu.tr::2ee877b7-8cc3-4157-838a-01a7c503a06d" providerId="AD" clId="Web-{F7DC3064-38A0-A2E5-0B94-D967A9F44494}" dt="2025-05-10T17:13:20.347" v="0"/>
        <pc:sldMkLst>
          <pc:docMk/>
          <pc:sldMk cId="1261509600" sldId="276"/>
        </pc:sldMkLst>
      </pc:sldChg>
      <pc:sldChg chg="ord">
        <pc:chgData name="SEMIH NEBI TOKALAK" userId="S::2210206050@ogrenci.karabuk.edu.tr::2ee877b7-8cc3-4157-838a-01a7c503a06d" providerId="AD" clId="Web-{F7DC3064-38A0-A2E5-0B94-D967A9F44494}" dt="2025-05-10T17:13:35.863" v="2"/>
        <pc:sldMkLst>
          <pc:docMk/>
          <pc:sldMk cId="2164175922" sldId="289"/>
        </pc:sldMkLst>
      </pc:sldChg>
      <pc:sldChg chg="ord">
        <pc:chgData name="SEMIH NEBI TOKALAK" userId="S::2210206050@ogrenci.karabuk.edu.tr::2ee877b7-8cc3-4157-838a-01a7c503a06d" providerId="AD" clId="Web-{F7DC3064-38A0-A2E5-0B94-D967A9F44494}" dt="2025-05-10T17:13:31.035" v="1"/>
        <pc:sldMkLst>
          <pc:docMk/>
          <pc:sldMk cId="1438489082" sldId="29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0FAEDD-D871-4074-9463-A8074A7F4CDF}"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0BBC7A37-92F8-42D1-ACC1-7F7856F001A1}">
      <dgm:prSet/>
      <dgm:spPr/>
      <dgm:t>
        <a:bodyPr/>
        <a:lstStyle/>
        <a:p>
          <a:r>
            <a:rPr lang="tr-TR" b="1" dirty="0"/>
            <a:t>PROJECT NAME:</a:t>
          </a:r>
          <a:br>
            <a:rPr lang="tr-TR" dirty="0"/>
          </a:br>
          <a:r>
            <a:rPr lang="tr-TR" b="0" dirty="0">
              <a:latin typeface="Arial" panose="020B0604020202020204" pitchFamily="34" charset="0"/>
              <a:cs typeface="Arial" panose="020B0604020202020204" pitchFamily="34" charset="0"/>
            </a:rPr>
            <a:t>Database </a:t>
          </a:r>
          <a:r>
            <a:rPr lang="tr-TR" b="0" dirty="0" err="1">
              <a:latin typeface="Arial" panose="020B0604020202020204" pitchFamily="34" charset="0"/>
              <a:cs typeface="Arial" panose="020B0604020202020204" pitchFamily="34" charset="0"/>
            </a:rPr>
            <a:t>System</a:t>
          </a:r>
          <a:r>
            <a:rPr lang="tr-TR" b="0" dirty="0">
              <a:latin typeface="Arial" panose="020B0604020202020204" pitchFamily="34" charset="0"/>
              <a:cs typeface="Arial" panose="020B0604020202020204" pitchFamily="34" charset="0"/>
            </a:rPr>
            <a:t> Project</a:t>
          </a:r>
          <a:endParaRPr lang="en-US" b="0" dirty="0">
            <a:latin typeface="Arial" panose="020B0604020202020204" pitchFamily="34" charset="0"/>
            <a:cs typeface="Arial" panose="020B0604020202020204" pitchFamily="34" charset="0"/>
          </a:endParaRPr>
        </a:p>
      </dgm:t>
    </dgm:pt>
    <dgm:pt modelId="{F95B1406-E825-4473-A296-6334320C1399}" type="parTrans" cxnId="{2759F964-36A7-4160-9C99-75A2DC974CF3}">
      <dgm:prSet/>
      <dgm:spPr/>
      <dgm:t>
        <a:bodyPr/>
        <a:lstStyle/>
        <a:p>
          <a:endParaRPr lang="en-US"/>
        </a:p>
      </dgm:t>
    </dgm:pt>
    <dgm:pt modelId="{02AD37EF-2DCA-4F7E-9BAF-0526C2951821}" type="sibTrans" cxnId="{2759F964-36A7-4160-9C99-75A2DC974CF3}">
      <dgm:prSet/>
      <dgm:spPr/>
      <dgm:t>
        <a:bodyPr/>
        <a:lstStyle/>
        <a:p>
          <a:endParaRPr lang="en-US"/>
        </a:p>
      </dgm:t>
    </dgm:pt>
    <dgm:pt modelId="{B86060AE-99A2-47D3-BC86-A1FE9D1DB1D6}">
      <dgm:prSet/>
      <dgm:spPr/>
      <dgm:t>
        <a:bodyPr/>
        <a:lstStyle/>
        <a:p>
          <a:r>
            <a:rPr lang="tr-TR" b="1" dirty="0"/>
            <a:t>PROJECT DESCRIPTION:</a:t>
          </a:r>
          <a:br>
            <a:rPr lang="tr-TR" dirty="0"/>
          </a:br>
          <a:r>
            <a:rPr lang="en-US" dirty="0">
              <a:latin typeface="Berlin Sans FB" panose="020E0602020502020306" pitchFamily="34" charset="0"/>
            </a:rPr>
            <a:t>This project includes a system design that will enable a company to track personnel information, job assignments, compensation, experience and document management in an integrated manner, covering both its own personnel and external personnel. In addition, social elements such as family information of in-house personnel and gift processes on special occasions will also be evaluated within the scope of the system.</a:t>
          </a:r>
        </a:p>
      </dgm:t>
    </dgm:pt>
    <dgm:pt modelId="{75F5E806-059F-4BE4-9464-C6E1A4867D67}" type="parTrans" cxnId="{D5D65675-5433-4A00-B6C4-8863C4738F3E}">
      <dgm:prSet/>
      <dgm:spPr/>
      <dgm:t>
        <a:bodyPr/>
        <a:lstStyle/>
        <a:p>
          <a:endParaRPr lang="en-US"/>
        </a:p>
      </dgm:t>
    </dgm:pt>
    <dgm:pt modelId="{86FC68CB-B3BF-4C8A-90C0-6C4A490AAAB0}" type="sibTrans" cxnId="{D5D65675-5433-4A00-B6C4-8863C4738F3E}">
      <dgm:prSet/>
      <dgm:spPr/>
      <dgm:t>
        <a:bodyPr/>
        <a:lstStyle/>
        <a:p>
          <a:endParaRPr lang="en-US"/>
        </a:p>
      </dgm:t>
    </dgm:pt>
    <dgm:pt modelId="{5D561B03-9567-47D8-8ED6-B4CAEBA95309}">
      <dgm:prSet/>
      <dgm:spPr/>
      <dgm:t>
        <a:bodyPr/>
        <a:lstStyle/>
        <a:p>
          <a:r>
            <a:rPr lang="tr-TR" b="1" dirty="0"/>
            <a:t>ADVISOR:</a:t>
          </a:r>
          <a:br>
            <a:rPr lang="tr-TR" dirty="0"/>
          </a:br>
          <a:r>
            <a:rPr lang="tr-TR" dirty="0" err="1">
              <a:latin typeface="Berlin Sans FB" panose="020E0602020502020306" pitchFamily="34" charset="0"/>
            </a:rPr>
            <a:t>Prof.Dr</a:t>
          </a:r>
          <a:r>
            <a:rPr lang="tr-TR" dirty="0">
              <a:latin typeface="Berlin Sans FB" panose="020E0602020502020306" pitchFamily="34" charset="0"/>
            </a:rPr>
            <a:t>. İLHAMİ  MUHARREM ORAK</a:t>
          </a:r>
          <a:endParaRPr lang="en-US" dirty="0">
            <a:latin typeface="Berlin Sans FB" panose="020E0602020502020306" pitchFamily="34" charset="0"/>
          </a:endParaRPr>
        </a:p>
      </dgm:t>
    </dgm:pt>
    <dgm:pt modelId="{9C9837DF-85C9-4716-B2CC-A3F05692DA12}" type="parTrans" cxnId="{CDDB8DE1-E894-4D09-AAEE-1A5657028186}">
      <dgm:prSet/>
      <dgm:spPr/>
      <dgm:t>
        <a:bodyPr/>
        <a:lstStyle/>
        <a:p>
          <a:endParaRPr lang="en-US"/>
        </a:p>
      </dgm:t>
    </dgm:pt>
    <dgm:pt modelId="{8DDD89DE-F262-486E-A799-ADB3A3558419}" type="sibTrans" cxnId="{CDDB8DE1-E894-4D09-AAEE-1A5657028186}">
      <dgm:prSet/>
      <dgm:spPr/>
      <dgm:t>
        <a:bodyPr/>
        <a:lstStyle/>
        <a:p>
          <a:endParaRPr lang="en-US"/>
        </a:p>
      </dgm:t>
    </dgm:pt>
    <dgm:pt modelId="{880CA882-5F42-4F74-8508-A4FC1B0B192B}">
      <dgm:prSet/>
      <dgm:spPr/>
      <dgm:t>
        <a:bodyPr/>
        <a:lstStyle/>
        <a:p>
          <a:r>
            <a:rPr lang="tr-TR" b="1" dirty="0"/>
            <a:t>ORGANISATION:</a:t>
          </a:r>
          <a:br>
            <a:rPr lang="tr-TR" dirty="0"/>
          </a:br>
          <a:r>
            <a:rPr lang="tr-TR" dirty="0">
              <a:latin typeface="Cascadia Code SemiBold" panose="020B0609020000020004" pitchFamily="49" charset="0"/>
              <a:cs typeface="Cascadia Code SemiBold" panose="020B0609020000020004" pitchFamily="49" charset="0"/>
            </a:rPr>
            <a:t>Karabük </a:t>
          </a:r>
          <a:r>
            <a:rPr lang="tr-TR" dirty="0" err="1">
              <a:latin typeface="Cascadia Code SemiBold" panose="020B0609020000020004" pitchFamily="49" charset="0"/>
              <a:cs typeface="Cascadia Code SemiBold" panose="020B0609020000020004" pitchFamily="49" charset="0"/>
            </a:rPr>
            <a:t>University</a:t>
          </a:r>
          <a:endParaRPr lang="en-US" dirty="0">
            <a:latin typeface="Cascadia Code SemiBold" panose="020B0609020000020004" pitchFamily="49" charset="0"/>
            <a:cs typeface="Cascadia Code SemiBold" panose="020B0609020000020004" pitchFamily="49" charset="0"/>
          </a:endParaRPr>
        </a:p>
      </dgm:t>
    </dgm:pt>
    <dgm:pt modelId="{853754E3-5516-486F-8948-DCAFF6B0DABE}" type="parTrans" cxnId="{791DC12F-A1C6-482E-9CB0-2BB13668622E}">
      <dgm:prSet/>
      <dgm:spPr/>
      <dgm:t>
        <a:bodyPr/>
        <a:lstStyle/>
        <a:p>
          <a:endParaRPr lang="en-US"/>
        </a:p>
      </dgm:t>
    </dgm:pt>
    <dgm:pt modelId="{B85E0C2F-977B-466E-ABD2-9E42DD848EC2}" type="sibTrans" cxnId="{791DC12F-A1C6-482E-9CB0-2BB13668622E}">
      <dgm:prSet/>
      <dgm:spPr/>
      <dgm:t>
        <a:bodyPr/>
        <a:lstStyle/>
        <a:p>
          <a:endParaRPr lang="en-US"/>
        </a:p>
      </dgm:t>
    </dgm:pt>
    <dgm:pt modelId="{FED5B0D5-92C7-4864-B33D-427828E7CC23}">
      <dgm:prSet/>
      <dgm:spPr/>
      <dgm:t>
        <a:bodyPr/>
        <a:lstStyle/>
        <a:p>
          <a:endParaRPr lang="en-US" dirty="0"/>
        </a:p>
      </dgm:t>
    </dgm:pt>
    <dgm:pt modelId="{254D2DF2-3756-4831-A39B-8209826F3101}" type="parTrans" cxnId="{5FF2E172-558F-4D79-8EB2-39FD1A1CD2A8}">
      <dgm:prSet/>
      <dgm:spPr/>
      <dgm:t>
        <a:bodyPr/>
        <a:lstStyle/>
        <a:p>
          <a:endParaRPr lang="en-US"/>
        </a:p>
      </dgm:t>
    </dgm:pt>
    <dgm:pt modelId="{10A71E4C-B092-44C7-BF32-CE9E3205CFAA}" type="sibTrans" cxnId="{5FF2E172-558F-4D79-8EB2-39FD1A1CD2A8}">
      <dgm:prSet/>
      <dgm:spPr/>
      <dgm:t>
        <a:bodyPr/>
        <a:lstStyle/>
        <a:p>
          <a:endParaRPr lang="en-US"/>
        </a:p>
      </dgm:t>
    </dgm:pt>
    <dgm:pt modelId="{70558B08-8BE4-402F-BD99-67E872A1C795}" type="pres">
      <dgm:prSet presAssocID="{8D0FAEDD-D871-4074-9463-A8074A7F4CDF}" presName="vert0" presStyleCnt="0">
        <dgm:presLayoutVars>
          <dgm:dir/>
          <dgm:animOne val="branch"/>
          <dgm:animLvl val="lvl"/>
        </dgm:presLayoutVars>
      </dgm:prSet>
      <dgm:spPr/>
    </dgm:pt>
    <dgm:pt modelId="{0C972E33-5002-455A-9A7D-562F426BE48E}" type="pres">
      <dgm:prSet presAssocID="{0BBC7A37-92F8-42D1-ACC1-7F7856F001A1}" presName="thickLine" presStyleLbl="alignNode1" presStyleIdx="0" presStyleCnt="5"/>
      <dgm:spPr/>
    </dgm:pt>
    <dgm:pt modelId="{660C8865-7AB3-4105-8356-6668C57FE450}" type="pres">
      <dgm:prSet presAssocID="{0BBC7A37-92F8-42D1-ACC1-7F7856F001A1}" presName="horz1" presStyleCnt="0"/>
      <dgm:spPr/>
    </dgm:pt>
    <dgm:pt modelId="{3EE6A251-4D9A-4576-92B4-371D3F644C38}" type="pres">
      <dgm:prSet presAssocID="{0BBC7A37-92F8-42D1-ACC1-7F7856F001A1}" presName="tx1" presStyleLbl="revTx" presStyleIdx="0" presStyleCnt="5"/>
      <dgm:spPr/>
    </dgm:pt>
    <dgm:pt modelId="{FBB44FD0-0FEA-49D8-BE8A-4AB47C859D9B}" type="pres">
      <dgm:prSet presAssocID="{0BBC7A37-92F8-42D1-ACC1-7F7856F001A1}" presName="vert1" presStyleCnt="0"/>
      <dgm:spPr/>
    </dgm:pt>
    <dgm:pt modelId="{9606C945-52D7-4C3F-ADB5-AA944AA3CE0D}" type="pres">
      <dgm:prSet presAssocID="{B86060AE-99A2-47D3-BC86-A1FE9D1DB1D6}" presName="thickLine" presStyleLbl="alignNode1" presStyleIdx="1" presStyleCnt="5"/>
      <dgm:spPr/>
    </dgm:pt>
    <dgm:pt modelId="{1A8E3FA0-0D29-40C5-9E81-23ECC7FDB5A9}" type="pres">
      <dgm:prSet presAssocID="{B86060AE-99A2-47D3-BC86-A1FE9D1DB1D6}" presName="horz1" presStyleCnt="0"/>
      <dgm:spPr/>
    </dgm:pt>
    <dgm:pt modelId="{D4BAFA55-AE02-46E5-8FDF-90895BF3DE6B}" type="pres">
      <dgm:prSet presAssocID="{B86060AE-99A2-47D3-BC86-A1FE9D1DB1D6}" presName="tx1" presStyleLbl="revTx" presStyleIdx="1" presStyleCnt="5"/>
      <dgm:spPr/>
    </dgm:pt>
    <dgm:pt modelId="{2AEB4B56-A490-4D38-8952-1B04B4F15B77}" type="pres">
      <dgm:prSet presAssocID="{B86060AE-99A2-47D3-BC86-A1FE9D1DB1D6}" presName="vert1" presStyleCnt="0"/>
      <dgm:spPr/>
    </dgm:pt>
    <dgm:pt modelId="{BDFBFF3F-9887-4F4E-A3FC-9780E3F231EB}" type="pres">
      <dgm:prSet presAssocID="{5D561B03-9567-47D8-8ED6-B4CAEBA95309}" presName="thickLine" presStyleLbl="alignNode1" presStyleIdx="2" presStyleCnt="5"/>
      <dgm:spPr/>
    </dgm:pt>
    <dgm:pt modelId="{2AE0802F-CE9F-4A33-9A13-9389CA6466C3}" type="pres">
      <dgm:prSet presAssocID="{5D561B03-9567-47D8-8ED6-B4CAEBA95309}" presName="horz1" presStyleCnt="0"/>
      <dgm:spPr/>
    </dgm:pt>
    <dgm:pt modelId="{A49AB172-4F7D-4EE7-BCA0-543A9CBBC526}" type="pres">
      <dgm:prSet presAssocID="{5D561B03-9567-47D8-8ED6-B4CAEBA95309}" presName="tx1" presStyleLbl="revTx" presStyleIdx="2" presStyleCnt="5"/>
      <dgm:spPr/>
    </dgm:pt>
    <dgm:pt modelId="{501341AE-E281-4E54-A059-BDAC01094061}" type="pres">
      <dgm:prSet presAssocID="{5D561B03-9567-47D8-8ED6-B4CAEBA95309}" presName="vert1" presStyleCnt="0"/>
      <dgm:spPr/>
    </dgm:pt>
    <dgm:pt modelId="{00029D40-A377-44FD-9FD8-03A113E1D26E}" type="pres">
      <dgm:prSet presAssocID="{880CA882-5F42-4F74-8508-A4FC1B0B192B}" presName="thickLine" presStyleLbl="alignNode1" presStyleIdx="3" presStyleCnt="5"/>
      <dgm:spPr/>
    </dgm:pt>
    <dgm:pt modelId="{47C234AE-01E0-4ABC-A4F5-CF687918EF4D}" type="pres">
      <dgm:prSet presAssocID="{880CA882-5F42-4F74-8508-A4FC1B0B192B}" presName="horz1" presStyleCnt="0"/>
      <dgm:spPr/>
    </dgm:pt>
    <dgm:pt modelId="{E419143B-2C85-4597-AA94-32CFA017CE23}" type="pres">
      <dgm:prSet presAssocID="{880CA882-5F42-4F74-8508-A4FC1B0B192B}" presName="tx1" presStyleLbl="revTx" presStyleIdx="3" presStyleCnt="5"/>
      <dgm:spPr/>
    </dgm:pt>
    <dgm:pt modelId="{14D0C685-AE5C-47B2-970D-FAC3FD918C9C}" type="pres">
      <dgm:prSet presAssocID="{880CA882-5F42-4F74-8508-A4FC1B0B192B}" presName="vert1" presStyleCnt="0"/>
      <dgm:spPr/>
    </dgm:pt>
    <dgm:pt modelId="{6F58A10B-BA58-4F60-980F-E847FB7E5C16}" type="pres">
      <dgm:prSet presAssocID="{FED5B0D5-92C7-4864-B33D-427828E7CC23}" presName="thickLine" presStyleLbl="alignNode1" presStyleIdx="4" presStyleCnt="5"/>
      <dgm:spPr/>
    </dgm:pt>
    <dgm:pt modelId="{5D065015-DF5A-4211-B7E2-B013A176379C}" type="pres">
      <dgm:prSet presAssocID="{FED5B0D5-92C7-4864-B33D-427828E7CC23}" presName="horz1" presStyleCnt="0"/>
      <dgm:spPr/>
    </dgm:pt>
    <dgm:pt modelId="{6ADDB3F4-DDD4-4995-9689-26682364C135}" type="pres">
      <dgm:prSet presAssocID="{FED5B0D5-92C7-4864-B33D-427828E7CC23}" presName="tx1" presStyleLbl="revTx" presStyleIdx="4" presStyleCnt="5"/>
      <dgm:spPr/>
    </dgm:pt>
    <dgm:pt modelId="{5956C39F-66EB-436B-A935-65CD110FE393}" type="pres">
      <dgm:prSet presAssocID="{FED5B0D5-92C7-4864-B33D-427828E7CC23}" presName="vert1" presStyleCnt="0"/>
      <dgm:spPr/>
    </dgm:pt>
  </dgm:ptLst>
  <dgm:cxnLst>
    <dgm:cxn modelId="{BAB0021A-5045-4587-9123-06B138819931}" type="presOf" srcId="{B86060AE-99A2-47D3-BC86-A1FE9D1DB1D6}" destId="{D4BAFA55-AE02-46E5-8FDF-90895BF3DE6B}" srcOrd="0" destOrd="0" presId="urn:microsoft.com/office/officeart/2008/layout/LinedList"/>
    <dgm:cxn modelId="{DA8AD523-E1B7-445C-8972-1717DA6ECFA8}" type="presOf" srcId="{5D561B03-9567-47D8-8ED6-B4CAEBA95309}" destId="{A49AB172-4F7D-4EE7-BCA0-543A9CBBC526}" srcOrd="0" destOrd="0" presId="urn:microsoft.com/office/officeart/2008/layout/LinedList"/>
    <dgm:cxn modelId="{791DC12F-A1C6-482E-9CB0-2BB13668622E}" srcId="{8D0FAEDD-D871-4074-9463-A8074A7F4CDF}" destId="{880CA882-5F42-4F74-8508-A4FC1B0B192B}" srcOrd="3" destOrd="0" parTransId="{853754E3-5516-486F-8948-DCAFF6B0DABE}" sibTransId="{B85E0C2F-977B-466E-ABD2-9E42DD848EC2}"/>
    <dgm:cxn modelId="{EA1F4433-3012-4530-9BE6-27DDFF04DF6E}" type="presOf" srcId="{0BBC7A37-92F8-42D1-ACC1-7F7856F001A1}" destId="{3EE6A251-4D9A-4576-92B4-371D3F644C38}" srcOrd="0" destOrd="0" presId="urn:microsoft.com/office/officeart/2008/layout/LinedList"/>
    <dgm:cxn modelId="{2759F964-36A7-4160-9C99-75A2DC974CF3}" srcId="{8D0FAEDD-D871-4074-9463-A8074A7F4CDF}" destId="{0BBC7A37-92F8-42D1-ACC1-7F7856F001A1}" srcOrd="0" destOrd="0" parTransId="{F95B1406-E825-4473-A296-6334320C1399}" sibTransId="{02AD37EF-2DCA-4F7E-9BAF-0526C2951821}"/>
    <dgm:cxn modelId="{5FF2E172-558F-4D79-8EB2-39FD1A1CD2A8}" srcId="{8D0FAEDD-D871-4074-9463-A8074A7F4CDF}" destId="{FED5B0D5-92C7-4864-B33D-427828E7CC23}" srcOrd="4" destOrd="0" parTransId="{254D2DF2-3756-4831-A39B-8209826F3101}" sibTransId="{10A71E4C-B092-44C7-BF32-CE9E3205CFAA}"/>
    <dgm:cxn modelId="{121F3D55-4405-426A-A1AD-C2D993DF4590}" type="presOf" srcId="{880CA882-5F42-4F74-8508-A4FC1B0B192B}" destId="{E419143B-2C85-4597-AA94-32CFA017CE23}" srcOrd="0" destOrd="0" presId="urn:microsoft.com/office/officeart/2008/layout/LinedList"/>
    <dgm:cxn modelId="{D5D65675-5433-4A00-B6C4-8863C4738F3E}" srcId="{8D0FAEDD-D871-4074-9463-A8074A7F4CDF}" destId="{B86060AE-99A2-47D3-BC86-A1FE9D1DB1D6}" srcOrd="1" destOrd="0" parTransId="{75F5E806-059F-4BE4-9464-C6E1A4867D67}" sibTransId="{86FC68CB-B3BF-4C8A-90C0-6C4A490AAAB0}"/>
    <dgm:cxn modelId="{CDDB8DE1-E894-4D09-AAEE-1A5657028186}" srcId="{8D0FAEDD-D871-4074-9463-A8074A7F4CDF}" destId="{5D561B03-9567-47D8-8ED6-B4CAEBA95309}" srcOrd="2" destOrd="0" parTransId="{9C9837DF-85C9-4716-B2CC-A3F05692DA12}" sibTransId="{8DDD89DE-F262-486E-A799-ADB3A3558419}"/>
    <dgm:cxn modelId="{4E66B6F7-5F84-44AE-AF04-B54C11B55D25}" type="presOf" srcId="{8D0FAEDD-D871-4074-9463-A8074A7F4CDF}" destId="{70558B08-8BE4-402F-BD99-67E872A1C795}" srcOrd="0" destOrd="0" presId="urn:microsoft.com/office/officeart/2008/layout/LinedList"/>
    <dgm:cxn modelId="{69CDFDFC-700C-4F33-8E28-AC3F624868F5}" type="presOf" srcId="{FED5B0D5-92C7-4864-B33D-427828E7CC23}" destId="{6ADDB3F4-DDD4-4995-9689-26682364C135}" srcOrd="0" destOrd="0" presId="urn:microsoft.com/office/officeart/2008/layout/LinedList"/>
    <dgm:cxn modelId="{933D5B50-A776-456E-A833-02E3598A5581}" type="presParOf" srcId="{70558B08-8BE4-402F-BD99-67E872A1C795}" destId="{0C972E33-5002-455A-9A7D-562F426BE48E}" srcOrd="0" destOrd="0" presId="urn:microsoft.com/office/officeart/2008/layout/LinedList"/>
    <dgm:cxn modelId="{3D305849-FCBF-480B-A7B5-059354D6161C}" type="presParOf" srcId="{70558B08-8BE4-402F-BD99-67E872A1C795}" destId="{660C8865-7AB3-4105-8356-6668C57FE450}" srcOrd="1" destOrd="0" presId="urn:microsoft.com/office/officeart/2008/layout/LinedList"/>
    <dgm:cxn modelId="{4C167B6C-0718-41AD-BA03-8AAB175B9D21}" type="presParOf" srcId="{660C8865-7AB3-4105-8356-6668C57FE450}" destId="{3EE6A251-4D9A-4576-92B4-371D3F644C38}" srcOrd="0" destOrd="0" presId="urn:microsoft.com/office/officeart/2008/layout/LinedList"/>
    <dgm:cxn modelId="{9390815D-A420-4DA2-A531-3DC534992281}" type="presParOf" srcId="{660C8865-7AB3-4105-8356-6668C57FE450}" destId="{FBB44FD0-0FEA-49D8-BE8A-4AB47C859D9B}" srcOrd="1" destOrd="0" presId="urn:microsoft.com/office/officeart/2008/layout/LinedList"/>
    <dgm:cxn modelId="{1E04E45F-0777-4822-AFD2-CC237F1AAF40}" type="presParOf" srcId="{70558B08-8BE4-402F-BD99-67E872A1C795}" destId="{9606C945-52D7-4C3F-ADB5-AA944AA3CE0D}" srcOrd="2" destOrd="0" presId="urn:microsoft.com/office/officeart/2008/layout/LinedList"/>
    <dgm:cxn modelId="{BF05E7B3-8E58-403A-BAD6-AD5F22E4706B}" type="presParOf" srcId="{70558B08-8BE4-402F-BD99-67E872A1C795}" destId="{1A8E3FA0-0D29-40C5-9E81-23ECC7FDB5A9}" srcOrd="3" destOrd="0" presId="urn:microsoft.com/office/officeart/2008/layout/LinedList"/>
    <dgm:cxn modelId="{0F79612F-0760-4F72-B9C5-68B22ACB6BEF}" type="presParOf" srcId="{1A8E3FA0-0D29-40C5-9E81-23ECC7FDB5A9}" destId="{D4BAFA55-AE02-46E5-8FDF-90895BF3DE6B}" srcOrd="0" destOrd="0" presId="urn:microsoft.com/office/officeart/2008/layout/LinedList"/>
    <dgm:cxn modelId="{71397E51-F2F8-4249-B66C-8C88321D3D94}" type="presParOf" srcId="{1A8E3FA0-0D29-40C5-9E81-23ECC7FDB5A9}" destId="{2AEB4B56-A490-4D38-8952-1B04B4F15B77}" srcOrd="1" destOrd="0" presId="urn:microsoft.com/office/officeart/2008/layout/LinedList"/>
    <dgm:cxn modelId="{196CFB1D-9C27-4BCA-9F91-39DC8A4D017C}" type="presParOf" srcId="{70558B08-8BE4-402F-BD99-67E872A1C795}" destId="{BDFBFF3F-9887-4F4E-A3FC-9780E3F231EB}" srcOrd="4" destOrd="0" presId="urn:microsoft.com/office/officeart/2008/layout/LinedList"/>
    <dgm:cxn modelId="{7629571C-6409-4FCF-8B5C-0C362E7D9BC6}" type="presParOf" srcId="{70558B08-8BE4-402F-BD99-67E872A1C795}" destId="{2AE0802F-CE9F-4A33-9A13-9389CA6466C3}" srcOrd="5" destOrd="0" presId="urn:microsoft.com/office/officeart/2008/layout/LinedList"/>
    <dgm:cxn modelId="{0A1CC303-1D7B-4BDF-84B8-FF427519884C}" type="presParOf" srcId="{2AE0802F-CE9F-4A33-9A13-9389CA6466C3}" destId="{A49AB172-4F7D-4EE7-BCA0-543A9CBBC526}" srcOrd="0" destOrd="0" presId="urn:microsoft.com/office/officeart/2008/layout/LinedList"/>
    <dgm:cxn modelId="{0835BE92-F107-4A9F-8C41-A6848C40FF3A}" type="presParOf" srcId="{2AE0802F-CE9F-4A33-9A13-9389CA6466C3}" destId="{501341AE-E281-4E54-A059-BDAC01094061}" srcOrd="1" destOrd="0" presId="urn:microsoft.com/office/officeart/2008/layout/LinedList"/>
    <dgm:cxn modelId="{081E9E04-78E8-456A-8427-6D8C27A633AA}" type="presParOf" srcId="{70558B08-8BE4-402F-BD99-67E872A1C795}" destId="{00029D40-A377-44FD-9FD8-03A113E1D26E}" srcOrd="6" destOrd="0" presId="urn:microsoft.com/office/officeart/2008/layout/LinedList"/>
    <dgm:cxn modelId="{51B2EFB1-0B1E-4A2F-8348-BBBF91ECC2CA}" type="presParOf" srcId="{70558B08-8BE4-402F-BD99-67E872A1C795}" destId="{47C234AE-01E0-4ABC-A4F5-CF687918EF4D}" srcOrd="7" destOrd="0" presId="urn:microsoft.com/office/officeart/2008/layout/LinedList"/>
    <dgm:cxn modelId="{85923747-AF65-4C71-8790-DACA35F4EAF5}" type="presParOf" srcId="{47C234AE-01E0-4ABC-A4F5-CF687918EF4D}" destId="{E419143B-2C85-4597-AA94-32CFA017CE23}" srcOrd="0" destOrd="0" presId="urn:microsoft.com/office/officeart/2008/layout/LinedList"/>
    <dgm:cxn modelId="{9189B3E1-32AC-4159-8463-320B13824CE0}" type="presParOf" srcId="{47C234AE-01E0-4ABC-A4F5-CF687918EF4D}" destId="{14D0C685-AE5C-47B2-970D-FAC3FD918C9C}" srcOrd="1" destOrd="0" presId="urn:microsoft.com/office/officeart/2008/layout/LinedList"/>
    <dgm:cxn modelId="{96EA26C8-ACAB-4F0B-B480-31F421878DAB}" type="presParOf" srcId="{70558B08-8BE4-402F-BD99-67E872A1C795}" destId="{6F58A10B-BA58-4F60-980F-E847FB7E5C16}" srcOrd="8" destOrd="0" presId="urn:microsoft.com/office/officeart/2008/layout/LinedList"/>
    <dgm:cxn modelId="{D3932FA0-1838-4175-B64F-B6F287E45074}" type="presParOf" srcId="{70558B08-8BE4-402F-BD99-67E872A1C795}" destId="{5D065015-DF5A-4211-B7E2-B013A176379C}" srcOrd="9" destOrd="0" presId="urn:microsoft.com/office/officeart/2008/layout/LinedList"/>
    <dgm:cxn modelId="{73DF3BA1-ADD6-4C3F-AE96-18BAA6340D4E}" type="presParOf" srcId="{5D065015-DF5A-4211-B7E2-B013A176379C}" destId="{6ADDB3F4-DDD4-4995-9689-26682364C135}" srcOrd="0" destOrd="0" presId="urn:microsoft.com/office/officeart/2008/layout/LinedList"/>
    <dgm:cxn modelId="{CF5ACA0B-7931-4CE9-9358-2CD69213DF6E}" type="presParOf" srcId="{5D065015-DF5A-4211-B7E2-B013A176379C}" destId="{5956C39F-66EB-436B-A935-65CD110FE39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972E33-5002-455A-9A7D-562F426BE48E}">
      <dsp:nvSpPr>
        <dsp:cNvPr id="0" name=""/>
        <dsp:cNvSpPr/>
      </dsp:nvSpPr>
      <dsp:spPr>
        <a:xfrm>
          <a:off x="0" y="640"/>
          <a:ext cx="6391275"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E6A251-4D9A-4576-92B4-371D3F644C38}">
      <dsp:nvSpPr>
        <dsp:cNvPr id="0" name=""/>
        <dsp:cNvSpPr/>
      </dsp:nvSpPr>
      <dsp:spPr>
        <a:xfrm>
          <a:off x="0" y="640"/>
          <a:ext cx="6391275" cy="104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tr-TR" sz="1200" b="1" kern="1200" dirty="0"/>
            <a:t>PROJECT NAME:</a:t>
          </a:r>
          <a:br>
            <a:rPr lang="tr-TR" sz="1200" kern="1200" dirty="0"/>
          </a:br>
          <a:r>
            <a:rPr lang="tr-TR" sz="1200" b="0" kern="1200" dirty="0">
              <a:latin typeface="Arial" panose="020B0604020202020204" pitchFamily="34" charset="0"/>
              <a:cs typeface="Arial" panose="020B0604020202020204" pitchFamily="34" charset="0"/>
            </a:rPr>
            <a:t>Database </a:t>
          </a:r>
          <a:r>
            <a:rPr lang="tr-TR" sz="1200" b="0" kern="1200" dirty="0" err="1">
              <a:latin typeface="Arial" panose="020B0604020202020204" pitchFamily="34" charset="0"/>
              <a:cs typeface="Arial" panose="020B0604020202020204" pitchFamily="34" charset="0"/>
            </a:rPr>
            <a:t>System</a:t>
          </a:r>
          <a:r>
            <a:rPr lang="tr-TR" sz="1200" b="0" kern="1200" dirty="0">
              <a:latin typeface="Arial" panose="020B0604020202020204" pitchFamily="34" charset="0"/>
              <a:cs typeface="Arial" panose="020B0604020202020204" pitchFamily="34" charset="0"/>
            </a:rPr>
            <a:t> Project</a:t>
          </a:r>
          <a:endParaRPr lang="en-US" sz="1200" b="0" kern="1200" dirty="0">
            <a:latin typeface="Arial" panose="020B0604020202020204" pitchFamily="34" charset="0"/>
            <a:cs typeface="Arial" panose="020B0604020202020204" pitchFamily="34" charset="0"/>
          </a:endParaRPr>
        </a:p>
      </dsp:txBody>
      <dsp:txXfrm>
        <a:off x="0" y="640"/>
        <a:ext cx="6391275" cy="1049081"/>
      </dsp:txXfrm>
    </dsp:sp>
    <dsp:sp modelId="{9606C945-52D7-4C3F-ADB5-AA944AA3CE0D}">
      <dsp:nvSpPr>
        <dsp:cNvPr id="0" name=""/>
        <dsp:cNvSpPr/>
      </dsp:nvSpPr>
      <dsp:spPr>
        <a:xfrm>
          <a:off x="0" y="1049721"/>
          <a:ext cx="6391275" cy="0"/>
        </a:xfrm>
        <a:prstGeom prst="line">
          <a:avLst/>
        </a:prstGeom>
        <a:solidFill>
          <a:schemeClr val="accent2">
            <a:hueOff val="-4941430"/>
            <a:satOff val="225"/>
            <a:lumOff val="0"/>
            <a:alphaOff val="0"/>
          </a:schemeClr>
        </a:solidFill>
        <a:ln w="19050" cap="rnd" cmpd="sng" algn="ctr">
          <a:solidFill>
            <a:schemeClr val="accent2">
              <a:hueOff val="-4941430"/>
              <a:satOff val="225"/>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BAFA55-AE02-46E5-8FDF-90895BF3DE6B}">
      <dsp:nvSpPr>
        <dsp:cNvPr id="0" name=""/>
        <dsp:cNvSpPr/>
      </dsp:nvSpPr>
      <dsp:spPr>
        <a:xfrm>
          <a:off x="0" y="1049721"/>
          <a:ext cx="6391275" cy="104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tr-TR" sz="1200" b="1" kern="1200" dirty="0"/>
            <a:t>PROJECT DESCRIPTION:</a:t>
          </a:r>
          <a:br>
            <a:rPr lang="tr-TR" sz="1200" kern="1200" dirty="0"/>
          </a:br>
          <a:r>
            <a:rPr lang="en-US" sz="1200" kern="1200" dirty="0">
              <a:latin typeface="Berlin Sans FB" panose="020E0602020502020306" pitchFamily="34" charset="0"/>
            </a:rPr>
            <a:t>This project includes a system design that will enable a company to track personnel information, job assignments, compensation, experience and document management in an integrated manner, covering both its own personnel and external personnel. In addition, social elements such as family information of in-house personnel and gift processes on special occasions will also be evaluated within the scope of the system.</a:t>
          </a:r>
        </a:p>
      </dsp:txBody>
      <dsp:txXfrm>
        <a:off x="0" y="1049721"/>
        <a:ext cx="6391275" cy="1049081"/>
      </dsp:txXfrm>
    </dsp:sp>
    <dsp:sp modelId="{BDFBFF3F-9887-4F4E-A3FC-9780E3F231EB}">
      <dsp:nvSpPr>
        <dsp:cNvPr id="0" name=""/>
        <dsp:cNvSpPr/>
      </dsp:nvSpPr>
      <dsp:spPr>
        <a:xfrm>
          <a:off x="0" y="2098802"/>
          <a:ext cx="6391275" cy="0"/>
        </a:xfrm>
        <a:prstGeom prst="line">
          <a:avLst/>
        </a:prstGeom>
        <a:solidFill>
          <a:schemeClr val="accent2">
            <a:hueOff val="-9882860"/>
            <a:satOff val="451"/>
            <a:lumOff val="0"/>
            <a:alphaOff val="0"/>
          </a:schemeClr>
        </a:solidFill>
        <a:ln w="19050" cap="rnd" cmpd="sng" algn="ctr">
          <a:solidFill>
            <a:schemeClr val="accent2">
              <a:hueOff val="-9882860"/>
              <a:satOff val="451"/>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49AB172-4F7D-4EE7-BCA0-543A9CBBC526}">
      <dsp:nvSpPr>
        <dsp:cNvPr id="0" name=""/>
        <dsp:cNvSpPr/>
      </dsp:nvSpPr>
      <dsp:spPr>
        <a:xfrm>
          <a:off x="0" y="2098802"/>
          <a:ext cx="6391275" cy="104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tr-TR" sz="1200" b="1" kern="1200" dirty="0"/>
            <a:t>ADVISOR:</a:t>
          </a:r>
          <a:br>
            <a:rPr lang="tr-TR" sz="1200" kern="1200" dirty="0"/>
          </a:br>
          <a:r>
            <a:rPr lang="tr-TR" sz="1200" kern="1200" dirty="0" err="1">
              <a:latin typeface="Berlin Sans FB" panose="020E0602020502020306" pitchFamily="34" charset="0"/>
            </a:rPr>
            <a:t>Prof.Dr</a:t>
          </a:r>
          <a:r>
            <a:rPr lang="tr-TR" sz="1200" kern="1200" dirty="0">
              <a:latin typeface="Berlin Sans FB" panose="020E0602020502020306" pitchFamily="34" charset="0"/>
            </a:rPr>
            <a:t>. İLHAMİ  MUHARREM ORAK</a:t>
          </a:r>
          <a:endParaRPr lang="en-US" sz="1200" kern="1200" dirty="0">
            <a:latin typeface="Berlin Sans FB" panose="020E0602020502020306" pitchFamily="34" charset="0"/>
          </a:endParaRPr>
        </a:p>
      </dsp:txBody>
      <dsp:txXfrm>
        <a:off x="0" y="2098802"/>
        <a:ext cx="6391275" cy="1049081"/>
      </dsp:txXfrm>
    </dsp:sp>
    <dsp:sp modelId="{00029D40-A377-44FD-9FD8-03A113E1D26E}">
      <dsp:nvSpPr>
        <dsp:cNvPr id="0" name=""/>
        <dsp:cNvSpPr/>
      </dsp:nvSpPr>
      <dsp:spPr>
        <a:xfrm>
          <a:off x="0" y="3147884"/>
          <a:ext cx="6391275" cy="0"/>
        </a:xfrm>
        <a:prstGeom prst="line">
          <a:avLst/>
        </a:prstGeom>
        <a:solidFill>
          <a:schemeClr val="accent2">
            <a:hueOff val="-14824290"/>
            <a:satOff val="676"/>
            <a:lumOff val="0"/>
            <a:alphaOff val="0"/>
          </a:schemeClr>
        </a:solidFill>
        <a:ln w="19050" cap="rnd" cmpd="sng" algn="ctr">
          <a:solidFill>
            <a:schemeClr val="accent2">
              <a:hueOff val="-14824290"/>
              <a:satOff val="676"/>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419143B-2C85-4597-AA94-32CFA017CE23}">
      <dsp:nvSpPr>
        <dsp:cNvPr id="0" name=""/>
        <dsp:cNvSpPr/>
      </dsp:nvSpPr>
      <dsp:spPr>
        <a:xfrm>
          <a:off x="0" y="3147884"/>
          <a:ext cx="6391275" cy="104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tr-TR" sz="1200" b="1" kern="1200" dirty="0"/>
            <a:t>ORGANISATION:</a:t>
          </a:r>
          <a:br>
            <a:rPr lang="tr-TR" sz="1200" kern="1200" dirty="0"/>
          </a:br>
          <a:r>
            <a:rPr lang="tr-TR" sz="1200" kern="1200" dirty="0">
              <a:latin typeface="Cascadia Code SemiBold" panose="020B0609020000020004" pitchFamily="49" charset="0"/>
              <a:cs typeface="Cascadia Code SemiBold" panose="020B0609020000020004" pitchFamily="49" charset="0"/>
            </a:rPr>
            <a:t>Karabük </a:t>
          </a:r>
          <a:r>
            <a:rPr lang="tr-TR" sz="1200" kern="1200" dirty="0" err="1">
              <a:latin typeface="Cascadia Code SemiBold" panose="020B0609020000020004" pitchFamily="49" charset="0"/>
              <a:cs typeface="Cascadia Code SemiBold" panose="020B0609020000020004" pitchFamily="49" charset="0"/>
            </a:rPr>
            <a:t>University</a:t>
          </a:r>
          <a:endParaRPr lang="en-US" sz="1200" kern="1200" dirty="0">
            <a:latin typeface="Cascadia Code SemiBold" panose="020B0609020000020004" pitchFamily="49" charset="0"/>
            <a:cs typeface="Cascadia Code SemiBold" panose="020B0609020000020004" pitchFamily="49" charset="0"/>
          </a:endParaRPr>
        </a:p>
      </dsp:txBody>
      <dsp:txXfrm>
        <a:off x="0" y="3147884"/>
        <a:ext cx="6391275" cy="1049081"/>
      </dsp:txXfrm>
    </dsp:sp>
    <dsp:sp modelId="{6F58A10B-BA58-4F60-980F-E847FB7E5C16}">
      <dsp:nvSpPr>
        <dsp:cNvPr id="0" name=""/>
        <dsp:cNvSpPr/>
      </dsp:nvSpPr>
      <dsp:spPr>
        <a:xfrm>
          <a:off x="0" y="4196965"/>
          <a:ext cx="6391275" cy="0"/>
        </a:xfrm>
        <a:prstGeom prst="line">
          <a:avLst/>
        </a:prstGeom>
        <a:solidFill>
          <a:schemeClr val="accent2">
            <a:hueOff val="-19765721"/>
            <a:satOff val="901"/>
            <a:lumOff val="0"/>
            <a:alphaOff val="0"/>
          </a:schemeClr>
        </a:solidFill>
        <a:ln w="19050" cap="rnd" cmpd="sng" algn="ctr">
          <a:solidFill>
            <a:schemeClr val="accent2">
              <a:hueOff val="-19765721"/>
              <a:satOff val="901"/>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ADDB3F4-DDD4-4995-9689-26682364C135}">
      <dsp:nvSpPr>
        <dsp:cNvPr id="0" name=""/>
        <dsp:cNvSpPr/>
      </dsp:nvSpPr>
      <dsp:spPr>
        <a:xfrm>
          <a:off x="0" y="4196965"/>
          <a:ext cx="6391275" cy="1049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endParaRPr lang="en-US" sz="1200" kern="1200" dirty="0"/>
        </a:p>
      </dsp:txBody>
      <dsp:txXfrm>
        <a:off x="0" y="4196965"/>
        <a:ext cx="6391275" cy="104908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tr-TR"/>
              <a:t>Asıl başlık stilini düzenlemek için tıklayın</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FC8C85F7-D1B2-4215-9AF2-543F8A5F1DCA}" type="datetimeFigureOut">
              <a:rPr lang="tr-TR" smtClean="0"/>
              <a:t>10.05.2025</a:t>
            </a:fld>
            <a:endParaRPr lang="tr-TR"/>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tr-TR"/>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178661113"/>
      </p:ext>
    </p:extLst>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FC8C85F7-D1B2-4215-9AF2-543F8A5F1DCA}" type="datetimeFigureOut">
              <a:rPr lang="tr-TR" smtClean="0"/>
              <a:t>10.05.2025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2804593648"/>
      </p:ext>
    </p:extLst>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FC8C85F7-D1B2-4215-9AF2-543F8A5F1DCA}" type="datetimeFigureOut">
              <a:rPr lang="tr-TR" smtClean="0"/>
              <a:t>10.05.2025</a:t>
            </a:fld>
            <a:endParaRPr lang="tr-TR"/>
          </a:p>
        </p:txBody>
      </p:sp>
      <p:sp>
        <p:nvSpPr>
          <p:cNvPr id="5" name="Footer Placeholder 4"/>
          <p:cNvSpPr>
            <a:spLocks noGrp="1"/>
          </p:cNvSpPr>
          <p:nvPr>
            <p:ph type="ftr" sz="quarter" idx="11"/>
          </p:nvPr>
        </p:nvSpPr>
        <p:spPr/>
        <p:txBody>
          <a:bodyPr/>
          <a:lstStyle/>
          <a:p>
            <a:endParaRPr lang="tr-T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2013680466"/>
      </p:ext>
    </p:extLst>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FC8C85F7-D1B2-4215-9AF2-543F8A5F1DCA}" type="datetimeFigureOut">
              <a:rPr lang="tr-TR" smtClean="0"/>
              <a:t>10.05.2025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368872726"/>
      </p:ext>
    </p:extLst>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FC8C85F7-D1B2-4215-9AF2-543F8A5F1DCA}" type="datetimeFigureOut">
              <a:rPr lang="tr-TR" smtClean="0"/>
              <a:t>10.05.2025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3379020617"/>
      </p:ext>
    </p:extLst>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FC8C85F7-D1B2-4215-9AF2-543F8A5F1DCA}" type="datetimeFigureOut">
              <a:rPr lang="tr-TR" smtClean="0"/>
              <a:t>10.05.2025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49379137"/>
      </p:ext>
    </p:extLst>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8C85F7-D1B2-4215-9AF2-543F8A5F1DCA}" type="datetimeFigureOut">
              <a:rPr lang="tr-TR" smtClean="0"/>
              <a:t>10.05.2025</a:t>
            </a:fld>
            <a:endParaRPr lang="tr-TR"/>
          </a:p>
        </p:txBody>
      </p:sp>
      <p:sp>
        <p:nvSpPr>
          <p:cNvPr id="3" name="Footer Placeholder 2"/>
          <p:cNvSpPr>
            <a:spLocks noGrp="1"/>
          </p:cNvSpPr>
          <p:nvPr>
            <p:ph type="ftr" sz="quarter" idx="11"/>
          </p:nvPr>
        </p:nvSpPr>
        <p:spPr/>
        <p:txBody>
          <a:bodyPr/>
          <a:lstStyle/>
          <a:p>
            <a:endParaRPr lang="tr-T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554483315"/>
      </p:ext>
    </p:extLst>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tr-TR"/>
              <a:t>Asıl başlık stilini düzenlemek için tıklayın</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FC8C85F7-D1B2-4215-9AF2-543F8A5F1DCA}" type="datetimeFigureOut">
              <a:rPr lang="tr-TR" smtClean="0"/>
              <a:t>10.05.2025</a:t>
            </a:fld>
            <a:endParaRPr lang="tr-TR"/>
          </a:p>
        </p:txBody>
      </p:sp>
      <p:sp>
        <p:nvSpPr>
          <p:cNvPr id="6" name="Footer Placeholder 5"/>
          <p:cNvSpPr>
            <a:spLocks noGrp="1"/>
          </p:cNvSpPr>
          <p:nvPr>
            <p:ph type="ftr" sz="quarter" idx="11"/>
          </p:nvPr>
        </p:nvSpPr>
        <p:spPr/>
        <p:txBody>
          <a:bodyPr/>
          <a:lstStyle/>
          <a:p>
            <a:endParaRPr lang="tr-T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318973284"/>
      </p:ext>
    </p:extLst>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tr-TR"/>
              <a:t>Resim eklemek için simgeye tıklayın</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FC8C85F7-D1B2-4215-9AF2-543F8A5F1DCA}" type="datetimeFigureOut">
              <a:rPr lang="tr-TR" smtClean="0"/>
              <a:t>10.05.2025</a:t>
            </a:fld>
            <a:endParaRPr lang="tr-TR"/>
          </a:p>
        </p:txBody>
      </p:sp>
      <p:sp>
        <p:nvSpPr>
          <p:cNvPr id="6" name="Footer Placeholder 5"/>
          <p:cNvSpPr>
            <a:spLocks noGrp="1"/>
          </p:cNvSpPr>
          <p:nvPr>
            <p:ph type="ftr" sz="quarter" idx="11"/>
          </p:nvPr>
        </p:nvSpPr>
        <p:spPr/>
        <p:txBody>
          <a:bodyPr/>
          <a:lstStyle/>
          <a:p>
            <a:endParaRPr lang="tr-T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3496256816"/>
      </p:ext>
    </p:extLst>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FC8C85F7-D1B2-4215-9AF2-543F8A5F1DCA}" type="datetimeFigureOut">
              <a:rPr lang="tr-TR" smtClean="0"/>
              <a:t>10.05.2025</a:t>
            </a:fld>
            <a:endParaRPr lang="tr-TR"/>
          </a:p>
        </p:txBody>
      </p:sp>
      <p:sp>
        <p:nvSpPr>
          <p:cNvPr id="6" name="Footer Placeholder 5"/>
          <p:cNvSpPr>
            <a:spLocks noGrp="1"/>
          </p:cNvSpPr>
          <p:nvPr>
            <p:ph type="ftr" sz="quarter" idx="11"/>
          </p:nvPr>
        </p:nvSpPr>
        <p:spPr/>
        <p:txBody>
          <a:bodyPr/>
          <a:lstStyle/>
          <a:p>
            <a:endParaRPr lang="tr-TR"/>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237950401"/>
      </p:ext>
    </p:extLst>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Başlık ve Resim Yazısı">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tr-TR"/>
              <a:t>Asıl başlık stilini düzenlemek için tıklayın</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FC8C85F7-D1B2-4215-9AF2-543F8A5F1DCA}" type="datetimeFigureOut">
              <a:rPr lang="tr-TR" smtClean="0"/>
              <a:t>10.05.2025</a:t>
            </a:fld>
            <a:endParaRPr lang="tr-TR"/>
          </a:p>
        </p:txBody>
      </p:sp>
      <p:sp>
        <p:nvSpPr>
          <p:cNvPr id="5" name="Footer Placeholder 4"/>
          <p:cNvSpPr>
            <a:spLocks noGrp="1"/>
          </p:cNvSpPr>
          <p:nvPr>
            <p:ph type="ftr" sz="quarter" idx="11"/>
          </p:nvPr>
        </p:nvSpPr>
        <p:spPr/>
        <p:txBody>
          <a:bodyPr/>
          <a:lstStyle/>
          <a:p>
            <a:endParaRPr lang="tr-T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2583822387"/>
      </p:ext>
    </p:extLst>
  </p:cSld>
  <p:clrMapOvr>
    <a:masterClrMapping/>
  </p:clrMapOvr>
  <p:transition spd="slow">
    <p:cov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Resim Yazılı Alıntı">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tr-TR"/>
              <a:t>Asıl başlık stilini düzenlemek için tıklayın</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FC8C85F7-D1B2-4215-9AF2-543F8A5F1DCA}" type="datetimeFigureOut">
              <a:rPr lang="tr-TR" smtClean="0"/>
              <a:t>10.05.2025</a:t>
            </a:fld>
            <a:endParaRPr lang="tr-TR"/>
          </a:p>
        </p:txBody>
      </p:sp>
      <p:sp>
        <p:nvSpPr>
          <p:cNvPr id="5" name="Footer Placeholder 4"/>
          <p:cNvSpPr>
            <a:spLocks noGrp="1"/>
          </p:cNvSpPr>
          <p:nvPr>
            <p:ph type="ftr" sz="quarter" idx="11"/>
          </p:nvPr>
        </p:nvSpPr>
        <p:spPr/>
        <p:txBody>
          <a:bodyPr/>
          <a:lstStyle/>
          <a:p>
            <a:endParaRPr lang="tr-TR"/>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1155831100"/>
      </p:ext>
    </p:extLst>
  </p:cSld>
  <p:clrMapOvr>
    <a:masterClrMapping/>
  </p:clrMapOvr>
  <p:transition spd="slow">
    <p:cove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İsim Kartı">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FC8C85F7-D1B2-4215-9AF2-543F8A5F1DCA}" type="datetimeFigureOut">
              <a:rPr lang="tr-TR" smtClean="0"/>
              <a:t>10.05.2025</a:t>
            </a:fld>
            <a:endParaRPr lang="tr-TR"/>
          </a:p>
        </p:txBody>
      </p:sp>
      <p:sp>
        <p:nvSpPr>
          <p:cNvPr id="5" name="Footer Placeholder 4"/>
          <p:cNvSpPr>
            <a:spLocks noGrp="1"/>
          </p:cNvSpPr>
          <p:nvPr>
            <p:ph type="ftr" sz="quarter" idx="11"/>
          </p:nvPr>
        </p:nvSpPr>
        <p:spPr/>
        <p:txBody>
          <a:bodyPr/>
          <a:lstStyle/>
          <a:p>
            <a:endParaRPr lang="tr-T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1774505441"/>
      </p:ext>
    </p:extLst>
  </p:cSld>
  <p:clrMapOvr>
    <a:masterClrMapping/>
  </p:clrMapOvr>
  <p:transition spd="slow">
    <p:cove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C8C85F7-D1B2-4215-9AF2-543F8A5F1DCA}" type="datetimeFigureOut">
              <a:rPr lang="tr-TR" smtClean="0"/>
              <a:t>10.05.2025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3588558496"/>
      </p:ext>
    </p:extLst>
  </p:cSld>
  <p:clrMapOvr>
    <a:masterClrMapping/>
  </p:clrMapOvr>
  <p:transition spd="slow">
    <p:cove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C8C85F7-D1B2-4215-9AF2-543F8A5F1DCA}" type="datetimeFigureOut">
              <a:rPr lang="tr-TR" smtClean="0"/>
              <a:t>10.05.2025</a:t>
            </a:fld>
            <a:endParaRPr lang="tr-TR"/>
          </a:p>
        </p:txBody>
      </p:sp>
      <p:sp>
        <p:nvSpPr>
          <p:cNvPr id="8" name="Footer Placeholder 7"/>
          <p:cNvSpPr>
            <a:spLocks noGrp="1"/>
          </p:cNvSpPr>
          <p:nvPr>
            <p:ph type="ftr" sz="quarter" idx="11"/>
          </p:nvPr>
        </p:nvSpPr>
        <p:spPr>
          <a:xfrm>
            <a:off x="561111" y="6391838"/>
            <a:ext cx="3644282" cy="304801"/>
          </a:xfrm>
        </p:spPr>
        <p:txBody>
          <a:bodyPr/>
          <a:lstStyle/>
          <a:p>
            <a:endParaRPr lang="tr-TR"/>
          </a:p>
        </p:txBody>
      </p:sp>
      <p:sp>
        <p:nvSpPr>
          <p:cNvPr id="9" name="Slide Number Placeholder 8"/>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357418436"/>
      </p:ext>
    </p:extLst>
  </p:cSld>
  <p:clrMapOvr>
    <a:masterClrMapping/>
  </p:clrMapOvr>
  <p:transition spd="slow">
    <p:cove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FC8C85F7-D1B2-4215-9AF2-543F8A5F1DCA}" type="datetimeFigureOut">
              <a:rPr lang="tr-TR" smtClean="0"/>
              <a:t>10.05.2025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834614459"/>
      </p:ext>
    </p:extLst>
  </p:cSld>
  <p:clrMapOvr>
    <a:masterClrMapping/>
  </p:clrMapOvr>
  <p:transition spd="slow">
    <p:cove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Dikey Başlık ve Meti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FC8C85F7-D1B2-4215-9AF2-543F8A5F1DCA}" type="datetimeFigureOut">
              <a:rPr lang="tr-TR" smtClean="0"/>
              <a:t>10.05.2025</a:t>
            </a:fld>
            <a:endParaRPr lang="tr-TR"/>
          </a:p>
        </p:txBody>
      </p:sp>
      <p:sp>
        <p:nvSpPr>
          <p:cNvPr id="5" name="Footer Placeholder 4"/>
          <p:cNvSpPr>
            <a:spLocks noGrp="1"/>
          </p:cNvSpPr>
          <p:nvPr>
            <p:ph type="ftr" sz="quarter" idx="11"/>
          </p:nvPr>
        </p:nvSpPr>
        <p:spPr/>
        <p:txBody>
          <a:bodyPr/>
          <a:lstStyle/>
          <a:p>
            <a:endParaRPr lang="tr-T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4B2925B7-A8F5-496D-9D9D-98D1E56D1A18}" type="slidenum">
              <a:rPr lang="tr-TR" smtClean="0"/>
              <a:t>‹#›</a:t>
            </a:fld>
            <a:endParaRPr lang="tr-TR"/>
          </a:p>
        </p:txBody>
      </p:sp>
    </p:spTree>
    <p:extLst>
      <p:ext uri="{BB962C8B-B14F-4D97-AF65-F5344CB8AC3E}">
        <p14:creationId xmlns:p14="http://schemas.microsoft.com/office/powerpoint/2010/main" val="1629721082"/>
      </p:ext>
    </p:extLst>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FC8C85F7-D1B2-4215-9AF2-543F8A5F1DCA}" type="datetimeFigureOut">
              <a:rPr lang="tr-TR" smtClean="0"/>
              <a:t>10.05.2025</a:t>
            </a:fld>
            <a:endParaRPr lang="tr-TR"/>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tr-TR"/>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4B2925B7-A8F5-496D-9D9D-98D1E56D1A18}" type="slidenum">
              <a:rPr lang="tr-TR" smtClean="0"/>
              <a:t>‹#›</a:t>
            </a:fld>
            <a:endParaRPr lang="tr-TR"/>
          </a:p>
        </p:txBody>
      </p:sp>
    </p:spTree>
    <p:extLst>
      <p:ext uri="{BB962C8B-B14F-4D97-AF65-F5344CB8AC3E}">
        <p14:creationId xmlns:p14="http://schemas.microsoft.com/office/powerpoint/2010/main" val="1286438664"/>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Lst>
  <p:transition spd="slow">
    <p:cover/>
  </p:transition>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1.xml"/><Relationship Id="rId5" Type="http://schemas.openxmlformats.org/officeDocument/2006/relationships/image" Target="../media/image7.jpg"/><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 Id="rId5" Type="http://schemas.openxmlformats.org/officeDocument/2006/relationships/image" Target="../media/image11.jpg"/><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 Id="rId5" Type="http://schemas.openxmlformats.org/officeDocument/2006/relationships/image" Target="../media/image15.jpg"/><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18.jpg"/></Relationships>
</file>

<file path=ppt/slides/_rels/slide1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2.xml"/><Relationship Id="rId5" Type="http://schemas.openxmlformats.org/officeDocument/2006/relationships/image" Target="../media/image23.jpg"/><Relationship Id="rId4" Type="http://schemas.openxmlformats.org/officeDocument/2006/relationships/image" Target="../media/image22.jpg"/></Relationships>
</file>

<file path=ppt/slides/_rels/slide1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42.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image" Target="../media/image44.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image" Target="../media/image46.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5" name="Group 97">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9" name="Rectangle 98">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100" name="Oval 99">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01" name="Oval 100">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96" name="Rectangle 101">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103"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tr-TR"/>
            </a:p>
          </p:txBody>
        </p:sp>
        <p:sp>
          <p:nvSpPr>
            <p:cNvPr id="104"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tr-TR"/>
            </a:p>
          </p:txBody>
        </p:sp>
        <p:sp>
          <p:nvSpPr>
            <p:cNvPr id="105"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tr-TR"/>
            </a:p>
          </p:txBody>
        </p:sp>
      </p:grpSp>
      <p:sp>
        <p:nvSpPr>
          <p:cNvPr id="2" name="Başlık 1">
            <a:extLst>
              <a:ext uri="{FF2B5EF4-FFF2-40B4-BE49-F238E27FC236}">
                <a16:creationId xmlns:a16="http://schemas.microsoft.com/office/drawing/2014/main" id="{FBD5C9FC-8642-BB49-873E-889761AB6B08}"/>
              </a:ext>
            </a:extLst>
          </p:cNvPr>
          <p:cNvSpPr>
            <a:spLocks noGrp="1"/>
          </p:cNvSpPr>
          <p:nvPr>
            <p:ph type="title"/>
          </p:nvPr>
        </p:nvSpPr>
        <p:spPr>
          <a:xfrm>
            <a:off x="1154955" y="973667"/>
            <a:ext cx="2942210" cy="4833745"/>
          </a:xfrm>
        </p:spPr>
        <p:txBody>
          <a:bodyPr>
            <a:normAutofit/>
          </a:bodyPr>
          <a:lstStyle/>
          <a:p>
            <a:r>
              <a:rPr lang="tr-TR">
                <a:solidFill>
                  <a:srgbClr val="EBEBEB"/>
                </a:solidFill>
              </a:rPr>
              <a:t>DATABASE PROJECT</a:t>
            </a:r>
          </a:p>
        </p:txBody>
      </p:sp>
      <p:sp>
        <p:nvSpPr>
          <p:cNvPr id="97" name="Rectangle 106">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tr-TR"/>
          </a:p>
        </p:txBody>
      </p:sp>
      <p:graphicFrame>
        <p:nvGraphicFramePr>
          <p:cNvPr id="93" name="İçerik Yer Tutucusu 2">
            <a:extLst>
              <a:ext uri="{FF2B5EF4-FFF2-40B4-BE49-F238E27FC236}">
                <a16:creationId xmlns:a16="http://schemas.microsoft.com/office/drawing/2014/main" id="{7686D92A-3E5B-FB47-AB68-307D14768394}"/>
              </a:ext>
            </a:extLst>
          </p:cNvPr>
          <p:cNvGraphicFramePr>
            <a:graphicFrameLocks noGrp="1"/>
          </p:cNvGraphicFramePr>
          <p:nvPr>
            <p:ph idx="1"/>
            <p:extLst>
              <p:ext uri="{D42A27DB-BD31-4B8C-83A1-F6EECF244321}">
                <p14:modId xmlns:p14="http://schemas.microsoft.com/office/powerpoint/2010/main" val="2820875523"/>
              </p:ext>
            </p:extLst>
          </p:nvPr>
        </p:nvGraphicFramePr>
        <p:xfrm>
          <a:off x="5338944" y="120914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13912013"/>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F2A4367-9DE2-5066-1979-8422CE4DDA84}"/>
              </a:ext>
            </a:extLst>
          </p:cNvPr>
          <p:cNvSpPr>
            <a:spLocks noGrp="1"/>
          </p:cNvSpPr>
          <p:nvPr>
            <p:ph type="title"/>
          </p:nvPr>
        </p:nvSpPr>
        <p:spPr/>
        <p:txBody>
          <a:bodyPr/>
          <a:lstStyle/>
          <a:p>
            <a:r>
              <a:rPr lang="tr-TR" dirty="0">
                <a:latin typeface="Arial Rounded MT Bold" panose="020F0704030504030204" pitchFamily="34" charset="0"/>
              </a:rPr>
              <a:t>                 </a:t>
            </a:r>
            <a:r>
              <a:rPr lang="tr-TR" dirty="0" err="1">
                <a:latin typeface="Arial Rounded MT Bold" panose="020F0704030504030204" pitchFamily="34" charset="0"/>
              </a:rPr>
              <a:t>Subject</a:t>
            </a:r>
            <a:r>
              <a:rPr lang="tr-TR" dirty="0">
                <a:latin typeface="Arial Rounded MT Bold" panose="020F0704030504030204" pitchFamily="34" charset="0"/>
              </a:rPr>
              <a:t> of </a:t>
            </a:r>
            <a:r>
              <a:rPr lang="tr-TR" dirty="0" err="1">
                <a:latin typeface="Arial Rounded MT Bold" panose="020F0704030504030204" pitchFamily="34" charset="0"/>
              </a:rPr>
              <a:t>the</a:t>
            </a:r>
            <a:r>
              <a:rPr lang="tr-TR" dirty="0">
                <a:latin typeface="Arial Rounded MT Bold" panose="020F0704030504030204" pitchFamily="34" charset="0"/>
              </a:rPr>
              <a:t> Project</a:t>
            </a:r>
          </a:p>
        </p:txBody>
      </p:sp>
      <p:sp>
        <p:nvSpPr>
          <p:cNvPr id="3" name="İçerik Yer Tutucusu 2">
            <a:extLst>
              <a:ext uri="{FF2B5EF4-FFF2-40B4-BE49-F238E27FC236}">
                <a16:creationId xmlns:a16="http://schemas.microsoft.com/office/drawing/2014/main" id="{A16B331C-6C23-3BB2-64F9-7D2EBC003240}"/>
              </a:ext>
            </a:extLst>
          </p:cNvPr>
          <p:cNvSpPr>
            <a:spLocks noGrp="1"/>
          </p:cNvSpPr>
          <p:nvPr>
            <p:ph idx="1"/>
          </p:nvPr>
        </p:nvSpPr>
        <p:spPr/>
        <p:txBody>
          <a:bodyPr>
            <a:noAutofit/>
          </a:bodyPr>
          <a:lstStyle/>
          <a:p>
            <a:r>
              <a:rPr lang="en-US" sz="1050" b="1" dirty="0"/>
              <a:t>In this project, a personnel management system will be developed that covers both a company's own employees and external employees (hired from other companies). Basic information about all employees (name, surname, phone number, date of birth) will be stored in the system.</a:t>
            </a:r>
          </a:p>
          <a:p>
            <a:endParaRPr lang="en-US" sz="1050" b="1" dirty="0"/>
          </a:p>
          <a:p>
            <a:r>
              <a:rPr lang="en-US" sz="1050" b="1" dirty="0"/>
              <a:t>The company's own employees receive monthly salaries and bonuses. Spouse and child information about these employees is also kept in the system. In addition, various gifts are given to employees' spouses and unmarried children at the ages of 10, 25 and 50. E-mail addresses are defined for employees who request it.</a:t>
            </a:r>
          </a:p>
          <a:p>
            <a:endParaRPr lang="en-US" sz="1050" b="1" dirty="0"/>
          </a:p>
          <a:p>
            <a:r>
              <a:rPr lang="en-US" sz="1050" b="1" dirty="0"/>
              <a:t>External employees work for hourly wages and must present a diploma or certificate in order to be registered in the system. The name of the company these employees are affiliated with, their contact information and the sector they operate in are also included in the system.</a:t>
            </a:r>
          </a:p>
          <a:p>
            <a:endParaRPr lang="en-US" sz="1050" b="1" dirty="0"/>
          </a:p>
          <a:p>
            <a:r>
              <a:rPr lang="en-US" sz="1050" b="1" dirty="0"/>
              <a:t>The system tracks how much salary or wage all employees receive each month. Each employee is matched to only one task in the system and each task requires a certain number of years of experience. In addition, each task has a responsible supervisor.</a:t>
            </a:r>
          </a:p>
          <a:p>
            <a:endParaRPr lang="en-US" sz="1050" b="1" dirty="0"/>
          </a:p>
          <a:p>
            <a:r>
              <a:rPr lang="en-US" sz="1050" b="1" dirty="0"/>
              <a:t>Thanks to this system, personnel information, task assignments, wage management and external company information can be managed in a centralized structure; The company's human resources process will become more organized and efficient.</a:t>
            </a:r>
            <a:endParaRPr lang="tr-TR" sz="1050" b="1" dirty="0"/>
          </a:p>
        </p:txBody>
      </p:sp>
    </p:spTree>
    <p:extLst>
      <p:ext uri="{BB962C8B-B14F-4D97-AF65-F5344CB8AC3E}">
        <p14:creationId xmlns:p14="http://schemas.microsoft.com/office/powerpoint/2010/main" val="502261888"/>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0CC99D9-28CD-1FCA-8FB4-A381AF602859}"/>
              </a:ext>
            </a:extLst>
          </p:cNvPr>
          <p:cNvSpPr>
            <a:spLocks noGrp="1"/>
          </p:cNvSpPr>
          <p:nvPr>
            <p:ph type="title"/>
          </p:nvPr>
        </p:nvSpPr>
        <p:spPr/>
        <p:txBody>
          <a:bodyPr/>
          <a:lstStyle/>
          <a:p>
            <a:r>
              <a:rPr lang="tr-TR" dirty="0">
                <a:latin typeface="Arial Rounded MT Bold" panose="020F0704030504030204" pitchFamily="34" charset="0"/>
              </a:rPr>
              <a:t>                        </a:t>
            </a:r>
            <a:r>
              <a:rPr lang="tr-TR" dirty="0" err="1">
                <a:latin typeface="Arial Rounded MT Bold" panose="020F0704030504030204" pitchFamily="34" charset="0"/>
              </a:rPr>
              <a:t>Entity</a:t>
            </a:r>
            <a:r>
              <a:rPr lang="tr-TR" dirty="0">
                <a:latin typeface="Arial Rounded MT Bold" panose="020F0704030504030204" pitchFamily="34" charset="0"/>
              </a:rPr>
              <a:t> </a:t>
            </a:r>
            <a:r>
              <a:rPr lang="tr-TR" dirty="0" err="1">
                <a:latin typeface="Arial Rounded MT Bold" panose="020F0704030504030204" pitchFamily="34" charset="0"/>
              </a:rPr>
              <a:t>Definitions</a:t>
            </a:r>
            <a:endParaRPr lang="tr-TR" dirty="0">
              <a:latin typeface="Arial Rounded MT Bold" panose="020F0704030504030204" pitchFamily="34" charset="0"/>
            </a:endParaRPr>
          </a:p>
        </p:txBody>
      </p:sp>
      <p:sp>
        <p:nvSpPr>
          <p:cNvPr id="3" name="İçerik Yer Tutucusu 2">
            <a:extLst>
              <a:ext uri="{FF2B5EF4-FFF2-40B4-BE49-F238E27FC236}">
                <a16:creationId xmlns:a16="http://schemas.microsoft.com/office/drawing/2014/main" id="{4B98FBAA-C778-8AC3-9C0B-C415AAC80731}"/>
              </a:ext>
            </a:extLst>
          </p:cNvPr>
          <p:cNvSpPr>
            <a:spLocks noGrp="1"/>
          </p:cNvSpPr>
          <p:nvPr>
            <p:ph idx="1"/>
          </p:nvPr>
        </p:nvSpPr>
        <p:spPr/>
        <p:txBody>
          <a:bodyPr>
            <a:normAutofit fontScale="92500" lnSpcReduction="10000"/>
          </a:bodyPr>
          <a:lstStyle/>
          <a:p>
            <a:r>
              <a:rPr lang="tr-TR" dirty="0" err="1"/>
              <a:t>Certificate</a:t>
            </a:r>
            <a:r>
              <a:rPr lang="tr-TR" dirty="0"/>
              <a:t>: </a:t>
            </a:r>
            <a:r>
              <a:rPr lang="en-US" dirty="0"/>
              <a:t>It represents the certificate or diploma that externally hired employees must have. At least one document must be assigned to each hired employee.</a:t>
            </a:r>
            <a:endParaRPr lang="tr-TR" dirty="0"/>
          </a:p>
          <a:p>
            <a:r>
              <a:rPr lang="tr-TR" dirty="0" err="1"/>
              <a:t>Company</a:t>
            </a:r>
            <a:r>
              <a:rPr lang="tr-TR" dirty="0"/>
              <a:t>: </a:t>
            </a:r>
            <a:r>
              <a:rPr lang="en-US" dirty="0"/>
              <a:t>Contains information about external companies to which leased employees are affiliated. Company name, contact information and sector information are kept.</a:t>
            </a:r>
            <a:endParaRPr lang="tr-TR" dirty="0"/>
          </a:p>
          <a:p>
            <a:r>
              <a:rPr lang="tr-TR" dirty="0" err="1"/>
              <a:t>Contract</a:t>
            </a:r>
            <a:r>
              <a:rPr lang="tr-TR" dirty="0"/>
              <a:t> </a:t>
            </a:r>
            <a:r>
              <a:rPr lang="tr-TR" dirty="0" err="1"/>
              <a:t>Employee</a:t>
            </a:r>
            <a:r>
              <a:rPr lang="tr-TR" dirty="0"/>
              <a:t>: </a:t>
            </a:r>
            <a:r>
              <a:rPr lang="en-US" dirty="0"/>
              <a:t>They represent employees who are hired from other companies to work temporarily. They work for an hourly wage and must have a certificate or diploma in order to work.</a:t>
            </a:r>
            <a:endParaRPr lang="tr-TR" dirty="0"/>
          </a:p>
          <a:p>
            <a:r>
              <a:rPr lang="tr-TR" dirty="0" err="1"/>
              <a:t>Dependent</a:t>
            </a:r>
            <a:r>
              <a:rPr lang="tr-TR" dirty="0"/>
              <a:t>: </a:t>
            </a:r>
            <a:r>
              <a:rPr lang="en-US" dirty="0"/>
              <a:t>They are the spouses and children of their own employees. Gifts are given to single children and spouses on special days (10, 25, 50 years old). It is related to the employee.</a:t>
            </a:r>
            <a:endParaRPr lang="tr-TR" dirty="0"/>
          </a:p>
        </p:txBody>
      </p:sp>
    </p:spTree>
    <p:extLst>
      <p:ext uri="{BB962C8B-B14F-4D97-AF65-F5344CB8AC3E}">
        <p14:creationId xmlns:p14="http://schemas.microsoft.com/office/powerpoint/2010/main" val="604306354"/>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D8EBC13-B243-ADD7-2D2D-3DFFB70F7FCE}"/>
              </a:ext>
            </a:extLst>
          </p:cNvPr>
          <p:cNvSpPr>
            <a:spLocks noGrp="1"/>
          </p:cNvSpPr>
          <p:nvPr>
            <p:ph type="title"/>
          </p:nvPr>
        </p:nvSpPr>
        <p:spPr/>
        <p:txBody>
          <a:bodyPr/>
          <a:lstStyle/>
          <a:p>
            <a:r>
              <a:rPr lang="tr-TR" dirty="0">
                <a:latin typeface="Arial Rounded MT Bold" panose="020F0704030504030204" pitchFamily="34" charset="0"/>
              </a:rPr>
              <a:t>                        </a:t>
            </a:r>
            <a:r>
              <a:rPr lang="tr-TR" dirty="0" err="1">
                <a:latin typeface="Arial Rounded MT Bold" panose="020F0704030504030204" pitchFamily="34" charset="0"/>
              </a:rPr>
              <a:t>Entity</a:t>
            </a:r>
            <a:r>
              <a:rPr lang="tr-TR" dirty="0">
                <a:latin typeface="Arial Rounded MT Bold" panose="020F0704030504030204" pitchFamily="34" charset="0"/>
              </a:rPr>
              <a:t> </a:t>
            </a:r>
            <a:r>
              <a:rPr lang="tr-TR" dirty="0" err="1">
                <a:latin typeface="Arial Rounded MT Bold" panose="020F0704030504030204" pitchFamily="34" charset="0"/>
              </a:rPr>
              <a:t>Definitions</a:t>
            </a:r>
            <a:endParaRPr lang="tr-TR" dirty="0"/>
          </a:p>
        </p:txBody>
      </p:sp>
      <p:sp>
        <p:nvSpPr>
          <p:cNvPr id="3" name="İçerik Yer Tutucusu 2">
            <a:extLst>
              <a:ext uri="{FF2B5EF4-FFF2-40B4-BE49-F238E27FC236}">
                <a16:creationId xmlns:a16="http://schemas.microsoft.com/office/drawing/2014/main" id="{AB3E89CB-A961-11B3-66CC-7D90264B133F}"/>
              </a:ext>
            </a:extLst>
          </p:cNvPr>
          <p:cNvSpPr>
            <a:spLocks noGrp="1"/>
          </p:cNvSpPr>
          <p:nvPr>
            <p:ph idx="1"/>
          </p:nvPr>
        </p:nvSpPr>
        <p:spPr/>
        <p:txBody>
          <a:bodyPr/>
          <a:lstStyle/>
          <a:p>
            <a:r>
              <a:rPr lang="tr-TR" dirty="0"/>
              <a:t> </a:t>
            </a:r>
            <a:r>
              <a:rPr lang="tr-TR" dirty="0" err="1"/>
              <a:t>Employee</a:t>
            </a:r>
            <a:r>
              <a:rPr lang="tr-TR" dirty="0"/>
              <a:t> : </a:t>
            </a:r>
            <a:r>
              <a:rPr lang="en-US" dirty="0"/>
              <a:t>It represents all employees within the company. Basic information such as name, surname, telephone, date of birth are kept here. Own employees and hired employees are separated through this entity.</a:t>
            </a:r>
            <a:endParaRPr lang="tr-TR" dirty="0"/>
          </a:p>
          <a:p>
            <a:r>
              <a:rPr lang="tr-TR" dirty="0" err="1"/>
              <a:t>Gift</a:t>
            </a:r>
            <a:r>
              <a:rPr lang="tr-TR" dirty="0"/>
              <a:t>: </a:t>
            </a:r>
            <a:r>
              <a:rPr lang="en-US" dirty="0"/>
              <a:t>It refers to gifts given to employees' spouses and single children at certain ages (10, 25, 50). It is tracked according to age and person.</a:t>
            </a:r>
            <a:endParaRPr lang="tr-TR" dirty="0"/>
          </a:p>
          <a:p>
            <a:r>
              <a:rPr lang="tr-TR" dirty="0" err="1"/>
              <a:t>Own</a:t>
            </a:r>
            <a:r>
              <a:rPr lang="tr-TR" dirty="0"/>
              <a:t> </a:t>
            </a:r>
            <a:r>
              <a:rPr lang="tr-TR" dirty="0" err="1"/>
              <a:t>Employee</a:t>
            </a:r>
            <a:r>
              <a:rPr lang="tr-TR" dirty="0"/>
              <a:t>: </a:t>
            </a:r>
            <a:r>
              <a:rPr lang="en-US" dirty="0"/>
              <a:t>Represents employees belonging to the company. They receive monthly salaries and bonuses. Email addresses are provided to those who request them. Spouse and child information is associated with this entity.</a:t>
            </a:r>
            <a:endParaRPr lang="tr-TR" dirty="0"/>
          </a:p>
          <a:p>
            <a:endParaRPr lang="tr-TR" dirty="0"/>
          </a:p>
        </p:txBody>
      </p:sp>
    </p:spTree>
    <p:extLst>
      <p:ext uri="{BB962C8B-B14F-4D97-AF65-F5344CB8AC3E}">
        <p14:creationId xmlns:p14="http://schemas.microsoft.com/office/powerpoint/2010/main" val="4131675841"/>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CEA4FCD-B6C0-6AB4-86D9-6AFFB132FF0A}"/>
              </a:ext>
            </a:extLst>
          </p:cNvPr>
          <p:cNvSpPr>
            <a:spLocks noGrp="1"/>
          </p:cNvSpPr>
          <p:nvPr>
            <p:ph type="title"/>
          </p:nvPr>
        </p:nvSpPr>
        <p:spPr/>
        <p:txBody>
          <a:bodyPr/>
          <a:lstStyle/>
          <a:p>
            <a:r>
              <a:rPr lang="tr-TR" dirty="0">
                <a:latin typeface="Arial Rounded MT Bold" panose="020F0704030504030204" pitchFamily="34" charset="0"/>
              </a:rPr>
              <a:t>                        </a:t>
            </a:r>
            <a:r>
              <a:rPr lang="tr-TR" dirty="0" err="1">
                <a:latin typeface="Arial Rounded MT Bold" panose="020F0704030504030204" pitchFamily="34" charset="0"/>
              </a:rPr>
              <a:t>Entity</a:t>
            </a:r>
            <a:r>
              <a:rPr lang="tr-TR" dirty="0">
                <a:latin typeface="Arial Rounded MT Bold" panose="020F0704030504030204" pitchFamily="34" charset="0"/>
              </a:rPr>
              <a:t> </a:t>
            </a:r>
            <a:r>
              <a:rPr lang="tr-TR" dirty="0" err="1">
                <a:latin typeface="Arial Rounded MT Bold" panose="020F0704030504030204" pitchFamily="34" charset="0"/>
              </a:rPr>
              <a:t>Definitions</a:t>
            </a:r>
            <a:endParaRPr lang="tr-TR" dirty="0"/>
          </a:p>
        </p:txBody>
      </p:sp>
      <p:sp>
        <p:nvSpPr>
          <p:cNvPr id="3" name="İçerik Yer Tutucusu 2">
            <a:extLst>
              <a:ext uri="{FF2B5EF4-FFF2-40B4-BE49-F238E27FC236}">
                <a16:creationId xmlns:a16="http://schemas.microsoft.com/office/drawing/2014/main" id="{B1DEDCE2-953E-3F2E-6803-BB7513027C49}"/>
              </a:ext>
            </a:extLst>
          </p:cNvPr>
          <p:cNvSpPr>
            <a:spLocks noGrp="1"/>
          </p:cNvSpPr>
          <p:nvPr>
            <p:ph idx="1"/>
          </p:nvPr>
        </p:nvSpPr>
        <p:spPr/>
        <p:txBody>
          <a:bodyPr/>
          <a:lstStyle/>
          <a:p>
            <a:r>
              <a:rPr lang="tr-TR" dirty="0"/>
              <a:t>Prim: </a:t>
            </a:r>
            <a:r>
              <a:rPr lang="en-US" dirty="0"/>
              <a:t>It refers to the monthly premiums given only to its own employees. The amount of premium received by each employee in each month is kept in this asset.</a:t>
            </a:r>
            <a:endParaRPr lang="tr-TR" dirty="0"/>
          </a:p>
          <a:p>
            <a:r>
              <a:rPr lang="tr-TR" dirty="0" err="1"/>
              <a:t>Salary</a:t>
            </a:r>
            <a:r>
              <a:rPr lang="tr-TR" dirty="0"/>
              <a:t> </a:t>
            </a:r>
            <a:r>
              <a:rPr lang="tr-TR" dirty="0" err="1"/>
              <a:t>Record</a:t>
            </a:r>
            <a:r>
              <a:rPr lang="tr-TR" dirty="0"/>
              <a:t>: </a:t>
            </a:r>
            <a:r>
              <a:rPr lang="en-US" dirty="0"/>
              <a:t>It is the entity where the salaries of own employees and the wages calculated according to working hours for hired employees are recorded on a monthly basis.</a:t>
            </a:r>
            <a:endParaRPr lang="tr-TR" dirty="0"/>
          </a:p>
          <a:p>
            <a:r>
              <a:rPr lang="tr-TR" dirty="0" err="1"/>
              <a:t>Supervisor</a:t>
            </a:r>
            <a:r>
              <a:rPr lang="tr-TR" dirty="0"/>
              <a:t>: </a:t>
            </a:r>
            <a:r>
              <a:rPr lang="en-US" dirty="0"/>
              <a:t>He/she is the person who takes responsibility for the tasks and guides the employees. Every task is subordinate to a superior.</a:t>
            </a:r>
            <a:endParaRPr lang="tr-TR" dirty="0"/>
          </a:p>
        </p:txBody>
      </p:sp>
    </p:spTree>
    <p:extLst>
      <p:ext uri="{BB962C8B-B14F-4D97-AF65-F5344CB8AC3E}">
        <p14:creationId xmlns:p14="http://schemas.microsoft.com/office/powerpoint/2010/main" val="2100552332"/>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DC9CF10-BDDB-1EDE-8549-9E4398CDC133}"/>
              </a:ext>
            </a:extLst>
          </p:cNvPr>
          <p:cNvSpPr>
            <a:spLocks noGrp="1"/>
          </p:cNvSpPr>
          <p:nvPr>
            <p:ph type="title"/>
          </p:nvPr>
        </p:nvSpPr>
        <p:spPr/>
        <p:txBody>
          <a:bodyPr/>
          <a:lstStyle/>
          <a:p>
            <a:r>
              <a:rPr lang="tr-TR" sz="3200" kern="100" dirty="0">
                <a:effectLst/>
                <a:latin typeface="Arial Rounded MT Bold" panose="020F0704030504030204" pitchFamily="34" charset="0"/>
                <a:ea typeface="Aptos" panose="020B0004020202020204" pitchFamily="34" charset="0"/>
                <a:cs typeface="Times New Roman" panose="02020603050405020304" pitchFamily="18" charset="0"/>
              </a:rPr>
              <a:t>                            </a:t>
            </a:r>
            <a:r>
              <a:rPr lang="tr-TR" sz="3200" kern="100" dirty="0" err="1">
                <a:effectLst/>
                <a:latin typeface="Arial Rounded MT Bold" panose="020F0704030504030204" pitchFamily="34" charset="0"/>
                <a:ea typeface="Aptos" panose="020B0004020202020204" pitchFamily="34" charset="0"/>
                <a:cs typeface="Times New Roman" panose="02020603050405020304" pitchFamily="18" charset="0"/>
              </a:rPr>
              <a:t>Developing</a:t>
            </a:r>
            <a:r>
              <a:rPr lang="tr-TR" sz="3200" kern="100" dirty="0">
                <a:effectLst/>
                <a:latin typeface="Arial Rounded MT Bold" panose="020F0704030504030204" pitchFamily="34" charset="0"/>
                <a:ea typeface="Aptos" panose="020B0004020202020204" pitchFamily="34" charset="0"/>
                <a:cs typeface="Times New Roman" panose="02020603050405020304" pitchFamily="18" charset="0"/>
              </a:rPr>
              <a:t>  ERD</a:t>
            </a:r>
            <a:endParaRPr lang="tr-TR" sz="3200" dirty="0">
              <a:latin typeface="Arial Rounded MT Bold" panose="020F0704030504030204" pitchFamily="34" charset="0"/>
            </a:endParaRPr>
          </a:p>
        </p:txBody>
      </p:sp>
      <p:sp>
        <p:nvSpPr>
          <p:cNvPr id="3" name="Metin Yer Tutucusu 2">
            <a:extLst>
              <a:ext uri="{FF2B5EF4-FFF2-40B4-BE49-F238E27FC236}">
                <a16:creationId xmlns:a16="http://schemas.microsoft.com/office/drawing/2014/main" id="{5C6A5C25-E44D-8269-8C17-41C236EDB207}"/>
              </a:ext>
            </a:extLst>
          </p:cNvPr>
          <p:cNvSpPr>
            <a:spLocks noGrp="1"/>
          </p:cNvSpPr>
          <p:nvPr>
            <p:ph type="body" sz="half" idx="2"/>
          </p:nvPr>
        </p:nvSpPr>
        <p:spPr/>
        <p:txBody>
          <a:bodyPr/>
          <a:lstStyle/>
          <a:p>
            <a:pPr marL="342900" lvl="0" indent="-342900">
              <a:lnSpc>
                <a:spcPct val="107000"/>
              </a:lnSpc>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Defining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least</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7 </a:t>
            </a:r>
            <a:r>
              <a:rPr lang="tr-TR" kern="100" dirty="0" err="1">
                <a:latin typeface="Calibri" panose="020F0502020204030204" pitchFamily="34" charset="0"/>
                <a:ea typeface="Aptos" panose="020B0004020202020204" pitchFamily="34" charset="0"/>
                <a:cs typeface="Times New Roman" panose="02020603050405020304" pitchFamily="18" charset="0"/>
              </a:rPr>
              <a:t>e</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ntity</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Defining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attributes</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Defining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all</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necessary</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relationships</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If</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possible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Superype-subtype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arc</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and</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hierarchical</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structures</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164175922"/>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descr="metin, ekran görüntüsü, diyagram, yazı tipi içeren bir resim&#10;&#10;Yapay zeka tarafından oluşturulan içerik yanlış olabilir.">
            <a:extLst>
              <a:ext uri="{FF2B5EF4-FFF2-40B4-BE49-F238E27FC236}">
                <a16:creationId xmlns:a16="http://schemas.microsoft.com/office/drawing/2014/main" id="{55D6E827-74A4-038C-5385-ED36E942A0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9688" y="0"/>
            <a:ext cx="9572624" cy="6858000"/>
          </a:xfrm>
          <a:prstGeom prst="rect">
            <a:avLst/>
          </a:prstGeom>
        </p:spPr>
      </p:pic>
    </p:spTree>
    <p:extLst>
      <p:ext uri="{BB962C8B-B14F-4D97-AF65-F5344CB8AC3E}">
        <p14:creationId xmlns:p14="http://schemas.microsoft.com/office/powerpoint/2010/main" val="1261509600"/>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sayı, numara, yazı tipi içeren bir resim&#10;&#10;Yapay zeka tarafından oluşturulan içerik yanlış olabilir.">
            <a:extLst>
              <a:ext uri="{FF2B5EF4-FFF2-40B4-BE49-F238E27FC236}">
                <a16:creationId xmlns:a16="http://schemas.microsoft.com/office/drawing/2014/main" id="{AB9B7534-11DC-8114-B142-C4A64C9386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0075"/>
            <a:ext cx="12192000" cy="5657850"/>
          </a:xfrm>
          <a:prstGeom prst="rect">
            <a:avLst/>
          </a:prstGeom>
        </p:spPr>
      </p:pic>
    </p:spTree>
    <p:extLst>
      <p:ext uri="{BB962C8B-B14F-4D97-AF65-F5344CB8AC3E}">
        <p14:creationId xmlns:p14="http://schemas.microsoft.com/office/powerpoint/2010/main" val="1438489082"/>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aşlık 5">
            <a:extLst>
              <a:ext uri="{FF2B5EF4-FFF2-40B4-BE49-F238E27FC236}">
                <a16:creationId xmlns:a16="http://schemas.microsoft.com/office/drawing/2014/main" id="{8EC52D56-676A-813C-666F-2E437FE28298}"/>
              </a:ext>
            </a:extLst>
          </p:cNvPr>
          <p:cNvSpPr>
            <a:spLocks noGrp="1"/>
          </p:cNvSpPr>
          <p:nvPr>
            <p:ph type="title"/>
          </p:nvPr>
        </p:nvSpPr>
        <p:spPr/>
        <p:txBody>
          <a:bodyPr/>
          <a:lstStyle/>
          <a:p>
            <a:r>
              <a:rPr lang="tr-TR" dirty="0">
                <a:latin typeface="Arial Rounded MT Bold" panose="020F0704030504030204" pitchFamily="34" charset="0"/>
              </a:rPr>
              <a:t>      </a:t>
            </a:r>
            <a:r>
              <a:rPr lang="tr-TR" dirty="0" err="1">
                <a:latin typeface="Arial Rounded MT Bold" panose="020F0704030504030204" pitchFamily="34" charset="0"/>
              </a:rPr>
              <a:t>Creating</a:t>
            </a:r>
            <a:r>
              <a:rPr lang="tr-TR" dirty="0">
                <a:latin typeface="Arial Rounded MT Bold" panose="020F0704030504030204" pitchFamily="34" charset="0"/>
              </a:rPr>
              <a:t> </a:t>
            </a:r>
            <a:r>
              <a:rPr lang="tr-TR" dirty="0" err="1">
                <a:latin typeface="Arial Rounded MT Bold" panose="020F0704030504030204" pitchFamily="34" charset="0"/>
              </a:rPr>
              <a:t>Tables</a:t>
            </a:r>
            <a:r>
              <a:rPr lang="tr-TR" dirty="0">
                <a:latin typeface="Arial Rounded MT Bold" panose="020F0704030504030204" pitchFamily="34" charset="0"/>
              </a:rPr>
              <a:t> </a:t>
            </a:r>
            <a:r>
              <a:rPr lang="tr-TR" dirty="0" err="1">
                <a:latin typeface="Arial Rounded MT Bold" panose="020F0704030504030204" pitchFamily="34" charset="0"/>
              </a:rPr>
              <a:t>and</a:t>
            </a:r>
            <a:r>
              <a:rPr lang="tr-TR" dirty="0">
                <a:latin typeface="Arial Rounded MT Bold" panose="020F0704030504030204" pitchFamily="34" charset="0"/>
              </a:rPr>
              <a:t> </a:t>
            </a:r>
            <a:r>
              <a:rPr lang="tr-TR" dirty="0" err="1">
                <a:latin typeface="Arial Rounded MT Bold" panose="020F0704030504030204" pitchFamily="34" charset="0"/>
              </a:rPr>
              <a:t>Created</a:t>
            </a:r>
            <a:r>
              <a:rPr lang="tr-TR" dirty="0">
                <a:latin typeface="Arial Rounded MT Bold" panose="020F0704030504030204" pitchFamily="34" charset="0"/>
              </a:rPr>
              <a:t> </a:t>
            </a:r>
            <a:r>
              <a:rPr lang="tr-TR" dirty="0" err="1">
                <a:latin typeface="Arial Rounded MT Bold" panose="020F0704030504030204" pitchFamily="34" charset="0"/>
              </a:rPr>
              <a:t>Tables</a:t>
            </a:r>
            <a:endParaRPr lang="tr-TR" dirty="0">
              <a:latin typeface="Arial Rounded MT Bold" panose="020F0704030504030204" pitchFamily="34" charset="0"/>
            </a:endParaRPr>
          </a:p>
        </p:txBody>
      </p:sp>
      <p:sp>
        <p:nvSpPr>
          <p:cNvPr id="3" name="İçerik Yer Tutucusu 2">
            <a:extLst>
              <a:ext uri="{FF2B5EF4-FFF2-40B4-BE49-F238E27FC236}">
                <a16:creationId xmlns:a16="http://schemas.microsoft.com/office/drawing/2014/main" id="{C74F730B-0D67-72FA-51B9-32BB9628DB8F}"/>
              </a:ext>
            </a:extLst>
          </p:cNvPr>
          <p:cNvSpPr>
            <a:spLocks noGrp="1"/>
          </p:cNvSpPr>
          <p:nvPr>
            <p:ph idx="1"/>
          </p:nvPr>
        </p:nvSpPr>
        <p:spPr/>
        <p:txBody>
          <a:bodyPr>
            <a:normAutofit fontScale="92500" lnSpcReduction="20000"/>
          </a:bodyPr>
          <a:lstStyle/>
          <a:p>
            <a:r>
              <a:rPr lang="tr-TR" dirty="0" err="1"/>
              <a:t>Certificate</a:t>
            </a:r>
            <a:endParaRPr lang="tr-TR" dirty="0"/>
          </a:p>
          <a:p>
            <a:r>
              <a:rPr lang="tr-TR" dirty="0" err="1"/>
              <a:t>Company</a:t>
            </a:r>
            <a:endParaRPr lang="tr-TR" dirty="0"/>
          </a:p>
          <a:p>
            <a:r>
              <a:rPr lang="tr-TR" dirty="0" err="1"/>
              <a:t>Contract</a:t>
            </a:r>
            <a:r>
              <a:rPr lang="tr-TR" dirty="0"/>
              <a:t> </a:t>
            </a:r>
            <a:r>
              <a:rPr lang="tr-TR" dirty="0" err="1"/>
              <a:t>employee</a:t>
            </a:r>
            <a:endParaRPr lang="tr-TR" dirty="0"/>
          </a:p>
          <a:p>
            <a:r>
              <a:rPr lang="tr-TR" dirty="0" err="1"/>
              <a:t>Depent</a:t>
            </a:r>
            <a:endParaRPr lang="tr-TR" dirty="0"/>
          </a:p>
          <a:p>
            <a:r>
              <a:rPr lang="tr-TR" dirty="0" err="1"/>
              <a:t>Employee</a:t>
            </a:r>
            <a:endParaRPr lang="tr-TR" dirty="0"/>
          </a:p>
          <a:p>
            <a:r>
              <a:rPr lang="tr-TR" dirty="0" err="1"/>
              <a:t>Gift</a:t>
            </a:r>
            <a:endParaRPr lang="tr-TR" dirty="0"/>
          </a:p>
          <a:p>
            <a:r>
              <a:rPr lang="tr-TR" dirty="0" err="1"/>
              <a:t>Own</a:t>
            </a:r>
            <a:r>
              <a:rPr lang="tr-TR" dirty="0"/>
              <a:t> </a:t>
            </a:r>
            <a:r>
              <a:rPr lang="tr-TR" dirty="0" err="1"/>
              <a:t>employee</a:t>
            </a:r>
            <a:endParaRPr lang="tr-TR" dirty="0"/>
          </a:p>
          <a:p>
            <a:r>
              <a:rPr lang="tr-TR" dirty="0"/>
              <a:t>Prim</a:t>
            </a:r>
          </a:p>
          <a:p>
            <a:r>
              <a:rPr lang="tr-TR" dirty="0" err="1"/>
              <a:t>Salary</a:t>
            </a:r>
            <a:r>
              <a:rPr lang="tr-TR" dirty="0"/>
              <a:t> </a:t>
            </a:r>
            <a:r>
              <a:rPr lang="tr-TR" dirty="0" err="1"/>
              <a:t>record</a:t>
            </a:r>
            <a:endParaRPr lang="tr-TR" dirty="0"/>
          </a:p>
          <a:p>
            <a:r>
              <a:rPr lang="tr-TR" dirty="0" err="1"/>
              <a:t>Supervisor</a:t>
            </a:r>
            <a:endParaRPr lang="tr-TR" dirty="0"/>
          </a:p>
          <a:p>
            <a:endParaRPr lang="tr-TR" dirty="0"/>
          </a:p>
          <a:p>
            <a:endParaRPr lang="tr-TR" dirty="0"/>
          </a:p>
          <a:p>
            <a:endParaRPr lang="tr-TR" dirty="0"/>
          </a:p>
          <a:p>
            <a:endParaRPr lang="tr-TR" dirty="0"/>
          </a:p>
          <a:p>
            <a:endParaRPr lang="tr-TR" dirty="0"/>
          </a:p>
          <a:p>
            <a:endParaRPr lang="tr-TR" dirty="0"/>
          </a:p>
          <a:p>
            <a:endParaRPr lang="tr-TR" dirty="0"/>
          </a:p>
        </p:txBody>
      </p:sp>
      <p:sp>
        <p:nvSpPr>
          <p:cNvPr id="4" name="Rectangle 1">
            <a:extLst>
              <a:ext uri="{FF2B5EF4-FFF2-40B4-BE49-F238E27FC236}">
                <a16:creationId xmlns:a16="http://schemas.microsoft.com/office/drawing/2014/main" id="{0E0EB98F-207B-9964-840E-5C232DCA8124}"/>
              </a:ext>
            </a:extLst>
          </p:cNvPr>
          <p:cNvSpPr>
            <a:spLocks noChangeArrowheads="1"/>
          </p:cNvSpPr>
          <p:nvPr/>
        </p:nvSpPr>
        <p:spPr bwMode="auto">
          <a:xfrm>
            <a:off x="0" y="102920"/>
            <a:ext cx="65" cy="251359"/>
          </a:xfrm>
          <a:prstGeom prst="rect">
            <a:avLst/>
          </a:prstGeom>
          <a:solidFill>
            <a:srgbClr val="303134"/>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23202559"/>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6D551A0-9061-5884-2073-DB6A1A557247}"/>
              </a:ext>
            </a:extLst>
          </p:cNvPr>
          <p:cNvSpPr>
            <a:spLocks noGrp="1"/>
          </p:cNvSpPr>
          <p:nvPr>
            <p:ph type="ctrTitle"/>
          </p:nvPr>
        </p:nvSpPr>
        <p:spPr/>
        <p:txBody>
          <a:bodyPr/>
          <a:lstStyle/>
          <a:p>
            <a:endParaRPr lang="tr-TR"/>
          </a:p>
        </p:txBody>
      </p:sp>
      <p:pic>
        <p:nvPicPr>
          <p:cNvPr id="6" name="Resim 5" descr="metin, ekran görüntüsü içeren bir resim&#10;&#10;Yapay zeka tarafından oluşturulan içerik yanlış olabilir.">
            <a:extLst>
              <a:ext uri="{FF2B5EF4-FFF2-40B4-BE49-F238E27FC236}">
                <a16:creationId xmlns:a16="http://schemas.microsoft.com/office/drawing/2014/main" id="{190B3B84-AB41-93D8-1372-BF9175B52B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208"/>
            <a:ext cx="12192000" cy="1912620"/>
          </a:xfrm>
          <a:prstGeom prst="rect">
            <a:avLst/>
          </a:prstGeom>
        </p:spPr>
      </p:pic>
      <p:pic>
        <p:nvPicPr>
          <p:cNvPr id="8" name="Resim 7" descr="metin, ekran görüntüsü, çizgi, sayı, numara içeren bir resim&#10;&#10;Yapay zeka tarafından oluşturulan içerik yanlış olabilir.">
            <a:extLst>
              <a:ext uri="{FF2B5EF4-FFF2-40B4-BE49-F238E27FC236}">
                <a16:creationId xmlns:a16="http://schemas.microsoft.com/office/drawing/2014/main" id="{D7F6CD11-65FC-F7DA-89E2-119AB973D6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21828"/>
            <a:ext cx="12192000" cy="1602203"/>
          </a:xfrm>
          <a:prstGeom prst="rect">
            <a:avLst/>
          </a:prstGeom>
        </p:spPr>
      </p:pic>
      <p:pic>
        <p:nvPicPr>
          <p:cNvPr id="10" name="Resim 9" descr="metin, ekran görüntüsü, multimedya yazılımı içeren bir resim&#10;&#10;Yapay zeka tarafından oluşturulan içerik yanlış olabilir.">
            <a:extLst>
              <a:ext uri="{FF2B5EF4-FFF2-40B4-BE49-F238E27FC236}">
                <a16:creationId xmlns:a16="http://schemas.microsoft.com/office/drawing/2014/main" id="{171B2ED3-B5D5-D3D5-2B17-82985924D9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509963"/>
            <a:ext cx="12192000" cy="1744980"/>
          </a:xfrm>
          <a:prstGeom prst="rect">
            <a:avLst/>
          </a:prstGeom>
        </p:spPr>
      </p:pic>
      <p:pic>
        <p:nvPicPr>
          <p:cNvPr id="12" name="Resim 11" descr="metin, ekran görüntüsü, çizgi, sayı, numara içeren bir resim&#10;&#10;Yapay zeka tarafından oluşturulan içerik yanlış olabilir.">
            <a:extLst>
              <a:ext uri="{FF2B5EF4-FFF2-40B4-BE49-F238E27FC236}">
                <a16:creationId xmlns:a16="http://schemas.microsoft.com/office/drawing/2014/main" id="{02FDA10D-398D-E11A-ECDF-C69CB64C2A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254943"/>
            <a:ext cx="12192000" cy="1619489"/>
          </a:xfrm>
          <a:prstGeom prst="rect">
            <a:avLst/>
          </a:prstGeom>
        </p:spPr>
      </p:pic>
    </p:spTree>
    <p:extLst>
      <p:ext uri="{BB962C8B-B14F-4D97-AF65-F5344CB8AC3E}">
        <p14:creationId xmlns:p14="http://schemas.microsoft.com/office/powerpoint/2010/main" val="3587902214"/>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çerik Yer Tutucusu 10" descr="metin, multimedya yazılımı, ekran görüntüsü içeren bir resim&#10;&#10;Yapay zeka tarafından oluşturulan içerik yanlış olabilir.">
            <a:extLst>
              <a:ext uri="{FF2B5EF4-FFF2-40B4-BE49-F238E27FC236}">
                <a16:creationId xmlns:a16="http://schemas.microsoft.com/office/drawing/2014/main" id="{38A6A856-481D-9E13-A848-68309F73EC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1827085"/>
          </a:xfrm>
        </p:spPr>
      </p:pic>
      <p:pic>
        <p:nvPicPr>
          <p:cNvPr id="13" name="Resim 12" descr="metin, ekran görüntüsü, sayı, numara, çizgi içeren bir resim&#10;&#10;Yapay zeka tarafından oluşturulan içerik yanlış olabilir.">
            <a:extLst>
              <a:ext uri="{FF2B5EF4-FFF2-40B4-BE49-F238E27FC236}">
                <a16:creationId xmlns:a16="http://schemas.microsoft.com/office/drawing/2014/main" id="{EF140054-2598-4D7C-C097-031D99D98A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27085"/>
            <a:ext cx="12192000" cy="1588932"/>
          </a:xfrm>
          <a:prstGeom prst="rect">
            <a:avLst/>
          </a:prstGeom>
        </p:spPr>
      </p:pic>
      <p:pic>
        <p:nvPicPr>
          <p:cNvPr id="15" name="Resim 14" descr="metin, multimedya yazılımı, yazılım, grafik yazılımı içeren bir resim&#10;&#10;Yapay zeka tarafından oluşturulan içerik yanlış olabilir.">
            <a:extLst>
              <a:ext uri="{FF2B5EF4-FFF2-40B4-BE49-F238E27FC236}">
                <a16:creationId xmlns:a16="http://schemas.microsoft.com/office/drawing/2014/main" id="{F9B92A6F-57D0-5B7F-7FE2-2E0E8E78C4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3416017"/>
            <a:ext cx="12192000" cy="1827085"/>
          </a:xfrm>
          <a:prstGeom prst="rect">
            <a:avLst/>
          </a:prstGeom>
        </p:spPr>
      </p:pic>
      <p:pic>
        <p:nvPicPr>
          <p:cNvPr id="17" name="Resim 16" descr="metin, ekran görüntüsü, sayı, numara, çizgi içeren bir resim&#10;&#10;Yapay zeka tarafından oluşturulan içerik yanlış olabilir.">
            <a:extLst>
              <a:ext uri="{FF2B5EF4-FFF2-40B4-BE49-F238E27FC236}">
                <a16:creationId xmlns:a16="http://schemas.microsoft.com/office/drawing/2014/main" id="{CC4D8F35-D703-D1D0-3293-202BDE4A57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243102"/>
            <a:ext cx="12192000" cy="1614898"/>
          </a:xfrm>
          <a:prstGeom prst="rect">
            <a:avLst/>
          </a:prstGeom>
        </p:spPr>
      </p:pic>
    </p:spTree>
    <p:extLst>
      <p:ext uri="{BB962C8B-B14F-4D97-AF65-F5344CB8AC3E}">
        <p14:creationId xmlns:p14="http://schemas.microsoft.com/office/powerpoint/2010/main" val="4205320321"/>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descr="metin, multimedya yazılımı, ekran görüntüsü içeren bir resim&#10;&#10;Yapay zeka tarafından oluşturulan içerik yanlış olabilir.">
            <a:extLst>
              <a:ext uri="{FF2B5EF4-FFF2-40B4-BE49-F238E27FC236}">
                <a16:creationId xmlns:a16="http://schemas.microsoft.com/office/drawing/2014/main" id="{DDD029B1-6E91-B625-A7E1-3BDB802530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1983631"/>
          </a:xfrm>
          <a:prstGeom prst="rect">
            <a:avLst/>
          </a:prstGeom>
        </p:spPr>
      </p:pic>
      <p:pic>
        <p:nvPicPr>
          <p:cNvPr id="7" name="Resim 6" descr="metin, ekran görüntüsü, sayı, numara, çizgi içeren bir resim&#10;&#10;Yapay zeka tarafından oluşturulan içerik yanlış olabilir.">
            <a:extLst>
              <a:ext uri="{FF2B5EF4-FFF2-40B4-BE49-F238E27FC236}">
                <a16:creationId xmlns:a16="http://schemas.microsoft.com/office/drawing/2014/main" id="{E7030915-B72C-F8F4-D43E-4C4F989857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994217"/>
            <a:ext cx="12192000" cy="1545839"/>
          </a:xfrm>
          <a:prstGeom prst="rect">
            <a:avLst/>
          </a:prstGeom>
        </p:spPr>
      </p:pic>
      <p:pic>
        <p:nvPicPr>
          <p:cNvPr id="9" name="Resim 8" descr="metin, ekran görüntüsü, multimedya yazılımı içeren bir resim&#10;&#10;Yapay zeka tarafından oluşturulan içerik yanlış olabilir.">
            <a:extLst>
              <a:ext uri="{FF2B5EF4-FFF2-40B4-BE49-F238E27FC236}">
                <a16:creationId xmlns:a16="http://schemas.microsoft.com/office/drawing/2014/main" id="{D139DA3C-6EE1-3E55-DBDC-97B108B91C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540056"/>
            <a:ext cx="12192000" cy="1761518"/>
          </a:xfrm>
          <a:prstGeom prst="rect">
            <a:avLst/>
          </a:prstGeom>
        </p:spPr>
      </p:pic>
      <p:pic>
        <p:nvPicPr>
          <p:cNvPr id="11" name="Resim 10" descr="metin, ekran görüntüsü, çizgi, sayı, numara içeren bir resim&#10;&#10;Yapay zeka tarafından oluşturulan içerik yanlış olabilir.">
            <a:extLst>
              <a:ext uri="{FF2B5EF4-FFF2-40B4-BE49-F238E27FC236}">
                <a16:creationId xmlns:a16="http://schemas.microsoft.com/office/drawing/2014/main" id="{09DA6076-9902-87C8-449B-44FAB642E4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301574"/>
            <a:ext cx="12192000" cy="1556426"/>
          </a:xfrm>
          <a:prstGeom prst="rect">
            <a:avLst/>
          </a:prstGeom>
        </p:spPr>
      </p:pic>
    </p:spTree>
    <p:extLst>
      <p:ext uri="{BB962C8B-B14F-4D97-AF65-F5344CB8AC3E}">
        <p14:creationId xmlns:p14="http://schemas.microsoft.com/office/powerpoint/2010/main" val="1761575565"/>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descr="metin, ekran görüntüsü, multimedya yazılımı içeren bir resim&#10;&#10;Yapay zeka tarafından oluşturulan içerik yanlış olabilir.">
            <a:extLst>
              <a:ext uri="{FF2B5EF4-FFF2-40B4-BE49-F238E27FC236}">
                <a16:creationId xmlns:a16="http://schemas.microsoft.com/office/drawing/2014/main" id="{DE699C0B-5DFC-F49B-320C-943BA923F5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2027723"/>
          </a:xfrm>
          <a:prstGeom prst="rect">
            <a:avLst/>
          </a:prstGeom>
        </p:spPr>
      </p:pic>
      <p:pic>
        <p:nvPicPr>
          <p:cNvPr id="7" name="Resim 6">
            <a:extLst>
              <a:ext uri="{FF2B5EF4-FFF2-40B4-BE49-F238E27FC236}">
                <a16:creationId xmlns:a16="http://schemas.microsoft.com/office/drawing/2014/main" id="{418D1E86-47B0-77C1-6AD9-A45CCB1593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027723"/>
            <a:ext cx="12192000" cy="1283368"/>
          </a:xfrm>
          <a:prstGeom prst="rect">
            <a:avLst/>
          </a:prstGeom>
        </p:spPr>
      </p:pic>
      <p:pic>
        <p:nvPicPr>
          <p:cNvPr id="9" name="Resim 8" descr="metin, ekran görüntüsü, multimedya yazılımı içeren bir resim&#10;&#10;Yapay zeka tarafından oluşturulan içerik yanlış olabilir.">
            <a:extLst>
              <a:ext uri="{FF2B5EF4-FFF2-40B4-BE49-F238E27FC236}">
                <a16:creationId xmlns:a16="http://schemas.microsoft.com/office/drawing/2014/main" id="{80441A05-FEB2-8A55-13C6-05A75E6373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311091"/>
            <a:ext cx="12192000" cy="1956095"/>
          </a:xfrm>
          <a:prstGeom prst="rect">
            <a:avLst/>
          </a:prstGeom>
        </p:spPr>
      </p:pic>
      <p:pic>
        <p:nvPicPr>
          <p:cNvPr id="11" name="Resim 10" descr="metin, ekran görüntüsü, çizgi, sayı, numara içeren bir resim&#10;&#10;Yapay zeka tarafından oluşturulan içerik yanlış olabilir.">
            <a:extLst>
              <a:ext uri="{FF2B5EF4-FFF2-40B4-BE49-F238E27FC236}">
                <a16:creationId xmlns:a16="http://schemas.microsoft.com/office/drawing/2014/main" id="{20DD3218-71EB-1869-8A05-04FF8AC965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267186"/>
            <a:ext cx="12192000" cy="1604211"/>
          </a:xfrm>
          <a:prstGeom prst="rect">
            <a:avLst/>
          </a:prstGeom>
        </p:spPr>
      </p:pic>
    </p:spTree>
    <p:extLst>
      <p:ext uri="{BB962C8B-B14F-4D97-AF65-F5344CB8AC3E}">
        <p14:creationId xmlns:p14="http://schemas.microsoft.com/office/powerpoint/2010/main" val="3873862091"/>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descr="metin, ekran görüntüsü, multimedya yazılımı içeren bir resim&#10;&#10;Yapay zeka tarafından oluşturulan içerik yanlış olabilir.">
            <a:extLst>
              <a:ext uri="{FF2B5EF4-FFF2-40B4-BE49-F238E27FC236}">
                <a16:creationId xmlns:a16="http://schemas.microsoft.com/office/drawing/2014/main" id="{932240AF-116D-805B-E553-314F391E09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2118360"/>
          </a:xfrm>
          <a:prstGeom prst="rect">
            <a:avLst/>
          </a:prstGeom>
        </p:spPr>
      </p:pic>
      <p:pic>
        <p:nvPicPr>
          <p:cNvPr id="7" name="Resim 6" descr="metin, ekran görüntüsü, çizgi, sayı, numara içeren bir resim&#10;&#10;Yapay zeka tarafından oluşturulan içerik yanlış olabilir.">
            <a:extLst>
              <a:ext uri="{FF2B5EF4-FFF2-40B4-BE49-F238E27FC236}">
                <a16:creationId xmlns:a16="http://schemas.microsoft.com/office/drawing/2014/main" id="{0881E098-227E-7877-64E1-6B3AB31AEC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118360"/>
            <a:ext cx="12192000" cy="1483953"/>
          </a:xfrm>
          <a:prstGeom prst="rect">
            <a:avLst/>
          </a:prstGeom>
        </p:spPr>
      </p:pic>
      <p:pic>
        <p:nvPicPr>
          <p:cNvPr id="9" name="Resim 8" descr="metin, ekran görüntüsü, multimedya yazılımı içeren bir resim&#10;&#10;Yapay zeka tarafından oluşturulan içerik yanlış olabilir.">
            <a:extLst>
              <a:ext uri="{FF2B5EF4-FFF2-40B4-BE49-F238E27FC236}">
                <a16:creationId xmlns:a16="http://schemas.microsoft.com/office/drawing/2014/main" id="{40D3A5CA-E0B9-62D7-B6A9-F62BB74167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602314"/>
            <a:ext cx="12192000" cy="1699260"/>
          </a:xfrm>
          <a:prstGeom prst="rect">
            <a:avLst/>
          </a:prstGeom>
        </p:spPr>
      </p:pic>
      <p:pic>
        <p:nvPicPr>
          <p:cNvPr id="11" name="Resim 10" descr="metin, ekran görüntüsü, sayı, numara, çizgi içeren bir resim&#10;&#10;Yapay zeka tarafından oluşturulan içerik yanlış olabilir.">
            <a:extLst>
              <a:ext uri="{FF2B5EF4-FFF2-40B4-BE49-F238E27FC236}">
                <a16:creationId xmlns:a16="http://schemas.microsoft.com/office/drawing/2014/main" id="{427B2E3F-7A76-31CC-D01F-A55F923AAB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301574"/>
            <a:ext cx="12192000" cy="1525944"/>
          </a:xfrm>
          <a:prstGeom prst="rect">
            <a:avLst/>
          </a:prstGeom>
        </p:spPr>
      </p:pic>
    </p:spTree>
    <p:extLst>
      <p:ext uri="{BB962C8B-B14F-4D97-AF65-F5344CB8AC3E}">
        <p14:creationId xmlns:p14="http://schemas.microsoft.com/office/powerpoint/2010/main" val="3420686047"/>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descr="metin, ekran görüntüsü, multimedya yazılımı içeren bir resim&#10;&#10;Yapay zeka tarafından oluşturulan içerik yanlış olabilir.">
            <a:extLst>
              <a:ext uri="{FF2B5EF4-FFF2-40B4-BE49-F238E27FC236}">
                <a16:creationId xmlns:a16="http://schemas.microsoft.com/office/drawing/2014/main" id="{2581D6C4-4B96-825D-C6E5-93E3FD63EF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34391"/>
            <a:ext cx="12192000" cy="1935804"/>
          </a:xfrm>
          <a:prstGeom prst="rect">
            <a:avLst/>
          </a:prstGeom>
        </p:spPr>
      </p:pic>
      <p:pic>
        <p:nvPicPr>
          <p:cNvPr id="7" name="Resim 6" descr="metin, ekran görüntüsü, çizgi, sayı, numara içeren bir resim&#10;&#10;Yapay zeka tarafından oluşturulan içerik yanlış olabilir.">
            <a:extLst>
              <a:ext uri="{FF2B5EF4-FFF2-40B4-BE49-F238E27FC236}">
                <a16:creationId xmlns:a16="http://schemas.microsoft.com/office/drawing/2014/main" id="{DFDBE723-C013-80F7-E73A-E16050D879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636267"/>
            <a:ext cx="12192000" cy="1712068"/>
          </a:xfrm>
          <a:prstGeom prst="rect">
            <a:avLst/>
          </a:prstGeom>
        </p:spPr>
      </p:pic>
    </p:spTree>
    <p:extLst>
      <p:ext uri="{BB962C8B-B14F-4D97-AF65-F5344CB8AC3E}">
        <p14:creationId xmlns:p14="http://schemas.microsoft.com/office/powerpoint/2010/main" val="3485187607"/>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içeren bir resim&#10;&#10;Yapay zeka tarafından oluşturulan içerik yanlış olabilir.">
            <a:extLst>
              <a:ext uri="{FF2B5EF4-FFF2-40B4-BE49-F238E27FC236}">
                <a16:creationId xmlns:a16="http://schemas.microsoft.com/office/drawing/2014/main" id="{99E59FFB-4200-6A56-FDC6-FFEE199B9B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1000"/>
            <a:ext cx="12192000" cy="3829050"/>
          </a:xfrm>
          <a:prstGeom prst="rect">
            <a:avLst/>
          </a:prstGeom>
        </p:spPr>
      </p:pic>
      <p:pic>
        <p:nvPicPr>
          <p:cNvPr id="5" name="Resim 4">
            <a:extLst>
              <a:ext uri="{FF2B5EF4-FFF2-40B4-BE49-F238E27FC236}">
                <a16:creationId xmlns:a16="http://schemas.microsoft.com/office/drawing/2014/main" id="{D753E2FB-0BF7-7B2A-5D86-2A432246A5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86274"/>
            <a:ext cx="12192000" cy="1990726"/>
          </a:xfrm>
          <a:prstGeom prst="rect">
            <a:avLst/>
          </a:prstGeom>
        </p:spPr>
      </p:pic>
    </p:spTree>
    <p:extLst>
      <p:ext uri="{BB962C8B-B14F-4D97-AF65-F5344CB8AC3E}">
        <p14:creationId xmlns:p14="http://schemas.microsoft.com/office/powerpoint/2010/main" val="2079413348"/>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içeren bir resim&#10;&#10;Yapay zeka tarafından oluşturulan içerik yanlış olabilir.">
            <a:extLst>
              <a:ext uri="{FF2B5EF4-FFF2-40B4-BE49-F238E27FC236}">
                <a16:creationId xmlns:a16="http://schemas.microsoft.com/office/drawing/2014/main" id="{AF51751F-06AF-0754-7C73-F978844FAB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2434"/>
            <a:ext cx="12192000" cy="3701415"/>
          </a:xfrm>
          <a:prstGeom prst="rect">
            <a:avLst/>
          </a:prstGeom>
        </p:spPr>
      </p:pic>
      <p:pic>
        <p:nvPicPr>
          <p:cNvPr id="5" name="Resim 4">
            <a:extLst>
              <a:ext uri="{FF2B5EF4-FFF2-40B4-BE49-F238E27FC236}">
                <a16:creationId xmlns:a16="http://schemas.microsoft.com/office/drawing/2014/main" id="{DE265148-7C02-6DEC-745E-6D8532DED3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11979"/>
            <a:ext cx="12192000" cy="2179321"/>
          </a:xfrm>
          <a:prstGeom prst="rect">
            <a:avLst/>
          </a:prstGeom>
        </p:spPr>
      </p:pic>
    </p:spTree>
    <p:extLst>
      <p:ext uri="{BB962C8B-B14F-4D97-AF65-F5344CB8AC3E}">
        <p14:creationId xmlns:p14="http://schemas.microsoft.com/office/powerpoint/2010/main" val="1869772864"/>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içeren bir resim&#10;&#10;Yapay zeka tarafından oluşturulan içerik yanlış olabilir.">
            <a:extLst>
              <a:ext uri="{FF2B5EF4-FFF2-40B4-BE49-F238E27FC236}">
                <a16:creationId xmlns:a16="http://schemas.microsoft.com/office/drawing/2014/main" id="{AB4E8994-3232-4666-D22F-B7032F8C63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8595"/>
            <a:ext cx="12192000" cy="3977640"/>
          </a:xfrm>
          <a:prstGeom prst="rect">
            <a:avLst/>
          </a:prstGeom>
        </p:spPr>
      </p:pic>
      <p:pic>
        <p:nvPicPr>
          <p:cNvPr id="5" name="Resim 4">
            <a:extLst>
              <a:ext uri="{FF2B5EF4-FFF2-40B4-BE49-F238E27FC236}">
                <a16:creationId xmlns:a16="http://schemas.microsoft.com/office/drawing/2014/main" id="{4E3B9417-C706-5853-5F13-7676D853D5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21505"/>
            <a:ext cx="12192000" cy="2118360"/>
          </a:xfrm>
          <a:prstGeom prst="rect">
            <a:avLst/>
          </a:prstGeom>
        </p:spPr>
      </p:pic>
    </p:spTree>
    <p:extLst>
      <p:ext uri="{BB962C8B-B14F-4D97-AF65-F5344CB8AC3E}">
        <p14:creationId xmlns:p14="http://schemas.microsoft.com/office/powerpoint/2010/main" val="3630834004"/>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yazılım, multimedya yazılımı içeren bir resim&#10;&#10;Yapay zeka tarafından oluşturulan içerik yanlış olabilir.">
            <a:extLst>
              <a:ext uri="{FF2B5EF4-FFF2-40B4-BE49-F238E27FC236}">
                <a16:creationId xmlns:a16="http://schemas.microsoft.com/office/drawing/2014/main" id="{66499BD0-DEF6-45D6-4513-A19837B70B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7283"/>
            <a:ext cx="12192000" cy="3720974"/>
          </a:xfrm>
          <a:prstGeom prst="rect">
            <a:avLst/>
          </a:prstGeom>
        </p:spPr>
      </p:pic>
      <p:pic>
        <p:nvPicPr>
          <p:cNvPr id="5" name="Resim 4" descr="metin, multimedya yazılımı, yazılım, grafik yazılımı içeren bir resim&#10;&#10;Yapay zeka tarafından oluşturulan içerik yanlış olabilir.">
            <a:extLst>
              <a:ext uri="{FF2B5EF4-FFF2-40B4-BE49-F238E27FC236}">
                <a16:creationId xmlns:a16="http://schemas.microsoft.com/office/drawing/2014/main" id="{E27F665D-4D7D-2F17-FEBA-8857BEB051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092167"/>
            <a:ext cx="12192000" cy="2548550"/>
          </a:xfrm>
          <a:prstGeom prst="rect">
            <a:avLst/>
          </a:prstGeom>
        </p:spPr>
      </p:pic>
    </p:spTree>
    <p:extLst>
      <p:ext uri="{BB962C8B-B14F-4D97-AF65-F5344CB8AC3E}">
        <p14:creationId xmlns:p14="http://schemas.microsoft.com/office/powerpoint/2010/main" val="1105592712"/>
      </p:ext>
    </p:extLst>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yazılım, multimedya yazılımı içeren bir resim&#10;&#10;Yapay zeka tarafından oluşturulan içerik yanlış olabilir.">
            <a:extLst>
              <a:ext uri="{FF2B5EF4-FFF2-40B4-BE49-F238E27FC236}">
                <a16:creationId xmlns:a16="http://schemas.microsoft.com/office/drawing/2014/main" id="{D66ECDA0-CE14-F664-A3F3-DDBDB5C7FF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0125"/>
            <a:ext cx="12192000" cy="3377887"/>
          </a:xfrm>
          <a:prstGeom prst="rect">
            <a:avLst/>
          </a:prstGeom>
        </p:spPr>
      </p:pic>
      <p:pic>
        <p:nvPicPr>
          <p:cNvPr id="5" name="Resim 4" descr="ekran görüntüsü, metin, yazılım, multimedya yazılımı içeren bir resim&#10;&#10;Yapay zeka tarafından oluşturulan içerik yanlış olabilir.">
            <a:extLst>
              <a:ext uri="{FF2B5EF4-FFF2-40B4-BE49-F238E27FC236}">
                <a16:creationId xmlns:a16="http://schemas.microsoft.com/office/drawing/2014/main" id="{B93D04C8-DE4E-8BD6-0BCB-78616940BE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02866"/>
            <a:ext cx="12192000" cy="3055545"/>
          </a:xfrm>
          <a:prstGeom prst="rect">
            <a:avLst/>
          </a:prstGeom>
        </p:spPr>
      </p:pic>
    </p:spTree>
    <p:extLst>
      <p:ext uri="{BB962C8B-B14F-4D97-AF65-F5344CB8AC3E}">
        <p14:creationId xmlns:p14="http://schemas.microsoft.com/office/powerpoint/2010/main" val="3007804181"/>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içeren bir resim&#10;&#10;Yapay zeka tarafından oluşturulan içerik yanlış olabilir.">
            <a:extLst>
              <a:ext uri="{FF2B5EF4-FFF2-40B4-BE49-F238E27FC236}">
                <a16:creationId xmlns:a16="http://schemas.microsoft.com/office/drawing/2014/main" id="{1532FD95-80B6-050F-7478-240824D950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8125"/>
            <a:ext cx="12192000" cy="4145280"/>
          </a:xfrm>
          <a:prstGeom prst="rect">
            <a:avLst/>
          </a:prstGeom>
        </p:spPr>
      </p:pic>
      <p:pic>
        <p:nvPicPr>
          <p:cNvPr id="5" name="Resim 4">
            <a:extLst>
              <a:ext uri="{FF2B5EF4-FFF2-40B4-BE49-F238E27FC236}">
                <a16:creationId xmlns:a16="http://schemas.microsoft.com/office/drawing/2014/main" id="{CE604541-D593-6B34-148B-A07CB59BD8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31055"/>
            <a:ext cx="12192000" cy="1769745"/>
          </a:xfrm>
          <a:prstGeom prst="rect">
            <a:avLst/>
          </a:prstGeom>
        </p:spPr>
      </p:pic>
    </p:spTree>
    <p:extLst>
      <p:ext uri="{BB962C8B-B14F-4D97-AF65-F5344CB8AC3E}">
        <p14:creationId xmlns:p14="http://schemas.microsoft.com/office/powerpoint/2010/main" val="510408531"/>
      </p:ext>
    </p:extLst>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içeren bir resim&#10;&#10;Yapay zeka tarafından oluşturulan içerik yanlış olabilir.">
            <a:extLst>
              <a:ext uri="{FF2B5EF4-FFF2-40B4-BE49-F238E27FC236}">
                <a16:creationId xmlns:a16="http://schemas.microsoft.com/office/drawing/2014/main" id="{F6BC9A51-121C-A7B6-C567-3C9FE4118D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3825"/>
            <a:ext cx="12192000" cy="4122420"/>
          </a:xfrm>
          <a:prstGeom prst="rect">
            <a:avLst/>
          </a:prstGeom>
        </p:spPr>
      </p:pic>
      <p:pic>
        <p:nvPicPr>
          <p:cNvPr id="5" name="Resim 4">
            <a:extLst>
              <a:ext uri="{FF2B5EF4-FFF2-40B4-BE49-F238E27FC236}">
                <a16:creationId xmlns:a16="http://schemas.microsoft.com/office/drawing/2014/main" id="{01D7C03C-2543-6CA5-DF57-FBB0E2F907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17695"/>
            <a:ext cx="12192000" cy="2230755"/>
          </a:xfrm>
          <a:prstGeom prst="rect">
            <a:avLst/>
          </a:prstGeom>
        </p:spPr>
      </p:pic>
    </p:spTree>
    <p:extLst>
      <p:ext uri="{BB962C8B-B14F-4D97-AF65-F5344CB8AC3E}">
        <p14:creationId xmlns:p14="http://schemas.microsoft.com/office/powerpoint/2010/main" val="1001699400"/>
      </p:ext>
    </p:extLst>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ekran görüntüsü, metin içeren bir resim&#10;&#10;Yapay zeka tarafından oluşturulan içerik yanlış olabilir.">
            <a:extLst>
              <a:ext uri="{FF2B5EF4-FFF2-40B4-BE49-F238E27FC236}">
                <a16:creationId xmlns:a16="http://schemas.microsoft.com/office/drawing/2014/main" id="{172CF646-9D75-55EA-533C-60D7C32195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4800"/>
            <a:ext cx="12192000" cy="4107180"/>
          </a:xfrm>
          <a:prstGeom prst="rect">
            <a:avLst/>
          </a:prstGeom>
        </p:spPr>
      </p:pic>
      <p:pic>
        <p:nvPicPr>
          <p:cNvPr id="5" name="Resim 4">
            <a:extLst>
              <a:ext uri="{FF2B5EF4-FFF2-40B4-BE49-F238E27FC236}">
                <a16:creationId xmlns:a16="http://schemas.microsoft.com/office/drawing/2014/main" id="{86DEEBF7-FB8C-A119-D101-CB5889E563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52010"/>
            <a:ext cx="12192000" cy="1908810"/>
          </a:xfrm>
          <a:prstGeom prst="rect">
            <a:avLst/>
          </a:prstGeom>
        </p:spPr>
      </p:pic>
    </p:spTree>
    <p:extLst>
      <p:ext uri="{BB962C8B-B14F-4D97-AF65-F5344CB8AC3E}">
        <p14:creationId xmlns:p14="http://schemas.microsoft.com/office/powerpoint/2010/main" val="3093912967"/>
      </p:ext>
    </p:extLst>
  </p:cSld>
  <p:clrMapOvr>
    <a:masterClrMapping/>
  </p:clrMapOvr>
  <p:transition spd="slow">
    <p:cov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ekran görüntüsü, metin içeren bir resim&#10;&#10;Yapay zeka tarafından oluşturulan içerik yanlış olabilir.">
            <a:extLst>
              <a:ext uri="{FF2B5EF4-FFF2-40B4-BE49-F238E27FC236}">
                <a16:creationId xmlns:a16="http://schemas.microsoft.com/office/drawing/2014/main" id="{321AFDC0-C4CD-B2F8-191D-BD578635DD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3350"/>
            <a:ext cx="12192000" cy="4122420"/>
          </a:xfrm>
          <a:prstGeom prst="rect">
            <a:avLst/>
          </a:prstGeom>
        </p:spPr>
      </p:pic>
      <p:pic>
        <p:nvPicPr>
          <p:cNvPr id="5" name="Resim 4">
            <a:extLst>
              <a:ext uri="{FF2B5EF4-FFF2-40B4-BE49-F238E27FC236}">
                <a16:creationId xmlns:a16="http://schemas.microsoft.com/office/drawing/2014/main" id="{38978E2F-204F-D8C7-A81A-A92998E5B3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65320"/>
            <a:ext cx="12192000" cy="2259330"/>
          </a:xfrm>
          <a:prstGeom prst="rect">
            <a:avLst/>
          </a:prstGeom>
        </p:spPr>
      </p:pic>
    </p:spTree>
    <p:extLst>
      <p:ext uri="{BB962C8B-B14F-4D97-AF65-F5344CB8AC3E}">
        <p14:creationId xmlns:p14="http://schemas.microsoft.com/office/powerpoint/2010/main" val="3754301906"/>
      </p:ext>
    </p:extLst>
  </p:cSld>
  <p:clrMapOvr>
    <a:masterClrMapping/>
  </p:clrMapOvr>
  <p:transition spd="slow">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yazılım içeren bir resim&#10;&#10;Yapay zeka tarafından oluşturulan içerik yanlış olabilir.">
            <a:extLst>
              <a:ext uri="{FF2B5EF4-FFF2-40B4-BE49-F238E27FC236}">
                <a16:creationId xmlns:a16="http://schemas.microsoft.com/office/drawing/2014/main" id="{BE0B2F8C-B0D8-3F1B-867A-28B7CE39EF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1450"/>
            <a:ext cx="12192000" cy="4133850"/>
          </a:xfrm>
          <a:prstGeom prst="rect">
            <a:avLst/>
          </a:prstGeom>
        </p:spPr>
      </p:pic>
      <p:pic>
        <p:nvPicPr>
          <p:cNvPr id="5" name="Resim 4">
            <a:extLst>
              <a:ext uri="{FF2B5EF4-FFF2-40B4-BE49-F238E27FC236}">
                <a16:creationId xmlns:a16="http://schemas.microsoft.com/office/drawing/2014/main" id="{92D1F07F-CB2F-1BE5-50F7-F3932A5B16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507229"/>
            <a:ext cx="12192000" cy="2112645"/>
          </a:xfrm>
          <a:prstGeom prst="rect">
            <a:avLst/>
          </a:prstGeom>
        </p:spPr>
      </p:pic>
    </p:spTree>
    <p:extLst>
      <p:ext uri="{BB962C8B-B14F-4D97-AF65-F5344CB8AC3E}">
        <p14:creationId xmlns:p14="http://schemas.microsoft.com/office/powerpoint/2010/main" val="3708737251"/>
      </p:ext>
    </p:extLst>
  </p:cSld>
  <p:clrMapOvr>
    <a:masterClrMapping/>
  </p:clrMapOvr>
  <p:transition spd="slow">
    <p:cove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ekran görüntüsü içeren bir resim&#10;&#10;Yapay zeka tarafından oluşturulan içerik yanlış olabilir.">
            <a:extLst>
              <a:ext uri="{FF2B5EF4-FFF2-40B4-BE49-F238E27FC236}">
                <a16:creationId xmlns:a16="http://schemas.microsoft.com/office/drawing/2014/main" id="{B6A06680-B9BF-9975-AC84-8BCC6F6A6A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0025"/>
            <a:ext cx="12192000" cy="3771900"/>
          </a:xfrm>
          <a:prstGeom prst="rect">
            <a:avLst/>
          </a:prstGeom>
        </p:spPr>
      </p:pic>
      <p:pic>
        <p:nvPicPr>
          <p:cNvPr id="5" name="Resim 4">
            <a:extLst>
              <a:ext uri="{FF2B5EF4-FFF2-40B4-BE49-F238E27FC236}">
                <a16:creationId xmlns:a16="http://schemas.microsoft.com/office/drawing/2014/main" id="{587F213D-EFF7-BD38-84FF-EBEB7D5031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189094"/>
            <a:ext cx="12192000" cy="2383155"/>
          </a:xfrm>
          <a:prstGeom prst="rect">
            <a:avLst/>
          </a:prstGeom>
        </p:spPr>
      </p:pic>
    </p:spTree>
    <p:extLst>
      <p:ext uri="{BB962C8B-B14F-4D97-AF65-F5344CB8AC3E}">
        <p14:creationId xmlns:p14="http://schemas.microsoft.com/office/powerpoint/2010/main" val="3597495275"/>
      </p:ext>
    </p:extLst>
  </p:cSld>
  <p:clrMapOvr>
    <a:masterClrMapping/>
  </p:clrMapOvr>
  <p:transition spd="slow">
    <p:cov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5C4DC74-CF39-55E2-3EED-60128FEFDA43}"/>
              </a:ext>
            </a:extLst>
          </p:cNvPr>
          <p:cNvSpPr>
            <a:spLocks noGrp="1"/>
          </p:cNvSpPr>
          <p:nvPr>
            <p:ph type="title"/>
          </p:nvPr>
        </p:nvSpPr>
        <p:spPr/>
        <p:txBody>
          <a:bodyPr/>
          <a:lstStyle/>
          <a:p>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2000" kern="100" dirty="0" err="1">
                <a:effectLst/>
                <a:latin typeface="Arial Rounded MT Bold" panose="020F0704030504030204" pitchFamily="34" charset="0"/>
                <a:ea typeface="Aptos" panose="020B0004020202020204" pitchFamily="34" charset="0"/>
                <a:cs typeface="Times New Roman" panose="02020603050405020304" pitchFamily="18" charset="0"/>
              </a:rPr>
              <a:t>Writing</a:t>
            </a:r>
            <a:r>
              <a:rPr lang="tr-TR" sz="2000" kern="100" dirty="0">
                <a:effectLst/>
                <a:latin typeface="Arial Rounded MT Bold" panose="020F0704030504030204" pitchFamily="34" charset="0"/>
                <a:ea typeface="Aptos" panose="020B0004020202020204" pitchFamily="34" charset="0"/>
                <a:cs typeface="Times New Roman" panose="02020603050405020304" pitchFamily="18" charset="0"/>
              </a:rPr>
              <a:t> SQL DML </a:t>
            </a:r>
            <a:r>
              <a:rPr lang="tr-TR" sz="2000" kern="100" dirty="0" err="1">
                <a:effectLst/>
                <a:latin typeface="Arial Rounded MT Bold" panose="020F0704030504030204" pitchFamily="34" charset="0"/>
                <a:ea typeface="Aptos" panose="020B0004020202020204" pitchFamily="34" charset="0"/>
                <a:cs typeface="Times New Roman" panose="02020603050405020304" pitchFamily="18" charset="0"/>
              </a:rPr>
              <a:t>Statements</a:t>
            </a:r>
            <a:r>
              <a:rPr lang="tr-TR" sz="2000" kern="100" dirty="0">
                <a:effectLst/>
                <a:latin typeface="Arial Rounded MT Bold" panose="020F0704030504030204" pitchFamily="34" charset="0"/>
                <a:ea typeface="Aptos" panose="020B0004020202020204" pitchFamily="34" charset="0"/>
                <a:cs typeface="Times New Roman" panose="02020603050405020304" pitchFamily="18" charset="0"/>
              </a:rPr>
              <a:t> </a:t>
            </a:r>
            <a:r>
              <a:rPr lang="tr-TR" sz="2000" kern="100" dirty="0" err="1">
                <a:effectLst/>
                <a:latin typeface="Arial Rounded MT Bold" panose="020F0704030504030204" pitchFamily="34" charset="0"/>
                <a:ea typeface="Aptos" panose="020B0004020202020204" pitchFamily="34" charset="0"/>
                <a:cs typeface="Times New Roman" panose="02020603050405020304" pitchFamily="18" charset="0"/>
              </a:rPr>
              <a:t>to</a:t>
            </a:r>
            <a:r>
              <a:rPr lang="tr-TR" sz="2000" kern="100" dirty="0">
                <a:effectLst/>
                <a:latin typeface="Arial Rounded MT Bold" panose="020F0704030504030204" pitchFamily="34" charset="0"/>
                <a:ea typeface="Aptos" panose="020B0004020202020204" pitchFamily="34" charset="0"/>
                <a:cs typeface="Times New Roman" panose="02020603050405020304" pitchFamily="18" charset="0"/>
              </a:rPr>
              <a:t> </a:t>
            </a:r>
            <a:r>
              <a:rPr lang="tr-TR" sz="2000" kern="100" dirty="0" err="1">
                <a:effectLst/>
                <a:latin typeface="Arial Rounded MT Bold" panose="020F0704030504030204" pitchFamily="34" charset="0"/>
                <a:ea typeface="Aptos" panose="020B0004020202020204" pitchFamily="34" charset="0"/>
                <a:cs typeface="Times New Roman" panose="02020603050405020304" pitchFamily="18" charset="0"/>
              </a:rPr>
              <a:t>reach</a:t>
            </a:r>
            <a:r>
              <a:rPr lang="tr-TR" sz="2000" kern="100" dirty="0">
                <a:effectLst/>
                <a:latin typeface="Arial Rounded MT Bold" panose="020F0704030504030204" pitchFamily="34" charset="0"/>
                <a:ea typeface="Aptos" panose="020B0004020202020204" pitchFamily="34" charset="0"/>
                <a:cs typeface="Times New Roman" panose="02020603050405020304" pitchFamily="18" charset="0"/>
              </a:rPr>
              <a:t> </a:t>
            </a:r>
            <a:r>
              <a:rPr lang="tr-TR" sz="2000" kern="100" dirty="0" err="1">
                <a:effectLst/>
                <a:latin typeface="Arial Rounded MT Bold" panose="020F0704030504030204" pitchFamily="34" charset="0"/>
                <a:ea typeface="Aptos" panose="020B0004020202020204" pitchFamily="34" charset="0"/>
                <a:cs typeface="Times New Roman" panose="02020603050405020304" pitchFamily="18" charset="0"/>
              </a:rPr>
              <a:t>information</a:t>
            </a:r>
            <a:endParaRPr lang="tr-TR" sz="2000" dirty="0">
              <a:latin typeface="Arial Rounded MT Bold" panose="020F0704030504030204" pitchFamily="34" charset="0"/>
            </a:endParaRPr>
          </a:p>
        </p:txBody>
      </p:sp>
      <p:sp>
        <p:nvSpPr>
          <p:cNvPr id="3" name="İçerik Yer Tutucusu 2">
            <a:extLst>
              <a:ext uri="{FF2B5EF4-FFF2-40B4-BE49-F238E27FC236}">
                <a16:creationId xmlns:a16="http://schemas.microsoft.com/office/drawing/2014/main" id="{3881C3A1-44A8-C21A-7D00-FF3D90C1840D}"/>
              </a:ext>
            </a:extLst>
          </p:cNvPr>
          <p:cNvSpPr>
            <a:spLocks noGrp="1"/>
          </p:cNvSpPr>
          <p:nvPr>
            <p:ph idx="1"/>
          </p:nvPr>
        </p:nvSpPr>
        <p:spPr/>
        <p:txBody>
          <a:bodyPr/>
          <a:lstStyle/>
          <a:p>
            <a:pPr marL="342900" lvl="0" indent="-342900">
              <a:lnSpc>
                <a:spcPct val="107000"/>
              </a:lnSpc>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One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statement</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including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Subquery</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One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statement</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including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Join</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One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statement</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including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Group</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By</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One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statement</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including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Date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function</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One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statement</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including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Character</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function</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One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statement</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including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Update</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07000"/>
              </a:lnSpc>
              <a:spcAft>
                <a:spcPts val="800"/>
              </a:spcAft>
              <a:buFont typeface="Wingdings" panose="05000000000000000000" pitchFamily="2" charset="2"/>
              <a:buChar char=""/>
            </a:pP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One</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statement</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including</a:t>
            </a:r>
            <a:r>
              <a:rPr lang="tr-TR" sz="1800" kern="100" dirty="0">
                <a:effectLst/>
                <a:latin typeface="Calibri" panose="020F0502020204030204" pitchFamily="34" charset="0"/>
                <a:ea typeface="Aptos" panose="020B0004020202020204" pitchFamily="34" charset="0"/>
                <a:cs typeface="Times New Roman" panose="02020603050405020304" pitchFamily="18" charset="0"/>
              </a:rPr>
              <a:t> Alter </a:t>
            </a:r>
            <a:r>
              <a:rPr lang="tr-TR" sz="1800" kern="100" dirty="0" err="1">
                <a:effectLst/>
                <a:latin typeface="Calibri" panose="020F0502020204030204" pitchFamily="34" charset="0"/>
                <a:ea typeface="Aptos" panose="020B0004020202020204" pitchFamily="34" charset="0"/>
                <a:cs typeface="Times New Roman" panose="02020603050405020304" pitchFamily="18" charset="0"/>
              </a:rPr>
              <a:t>Table</a:t>
            </a:r>
            <a:endParaRPr lang="tr-TR"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343986028"/>
      </p:ext>
    </p:extLst>
  </p:cSld>
  <p:clrMapOvr>
    <a:masterClrMapping/>
  </p:clrMapOvr>
  <p:transition spd="slow">
    <p:cov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multimedya yazılımı, yazılım, grafik yazılımı içeren bir resim&#10;&#10;Yapay zeka tarafından oluşturulan içerik yanlış olabilir.">
            <a:extLst>
              <a:ext uri="{FF2B5EF4-FFF2-40B4-BE49-F238E27FC236}">
                <a16:creationId xmlns:a16="http://schemas.microsoft.com/office/drawing/2014/main" id="{DB41DC20-E131-5622-861A-462FA31E30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8125"/>
            <a:ext cx="12192000" cy="6381749"/>
          </a:xfrm>
          <a:prstGeom prst="rect">
            <a:avLst/>
          </a:prstGeom>
        </p:spPr>
      </p:pic>
    </p:spTree>
    <p:extLst>
      <p:ext uri="{BB962C8B-B14F-4D97-AF65-F5344CB8AC3E}">
        <p14:creationId xmlns:p14="http://schemas.microsoft.com/office/powerpoint/2010/main" val="1533908012"/>
      </p:ext>
    </p:extLst>
  </p:cSld>
  <p:clrMapOvr>
    <a:masterClrMapping/>
  </p:clrMapOvr>
  <p:transition spd="slow">
    <p:cove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ekran görüntüsü, multimedya yazılımı, yazılım, grafik yazılımı içeren bir resim&#10;&#10;Yapay zeka tarafından oluşturulan içerik yanlış olabilir.">
            <a:extLst>
              <a:ext uri="{FF2B5EF4-FFF2-40B4-BE49-F238E27FC236}">
                <a16:creationId xmlns:a16="http://schemas.microsoft.com/office/drawing/2014/main" id="{F2DDD67B-FD5C-1BC9-E941-C4874A2F6B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48615"/>
            <a:ext cx="12192000" cy="6160770"/>
          </a:xfrm>
          <a:prstGeom prst="rect">
            <a:avLst/>
          </a:prstGeom>
        </p:spPr>
      </p:pic>
    </p:spTree>
    <p:extLst>
      <p:ext uri="{BB962C8B-B14F-4D97-AF65-F5344CB8AC3E}">
        <p14:creationId xmlns:p14="http://schemas.microsoft.com/office/powerpoint/2010/main" val="483695375"/>
      </p:ext>
    </p:extLst>
  </p:cSld>
  <p:clrMapOvr>
    <a:masterClrMapping/>
  </p:clrMapOvr>
  <p:transition spd="slow">
    <p:cove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multimedya yazılımı, yazılım, ekran görüntüsü içeren bir resim&#10;&#10;Yapay zeka tarafından oluşturulan içerik yanlış olabilir.">
            <a:extLst>
              <a:ext uri="{FF2B5EF4-FFF2-40B4-BE49-F238E27FC236}">
                <a16:creationId xmlns:a16="http://schemas.microsoft.com/office/drawing/2014/main" id="{F44CDD6D-40F0-A3C8-B680-7BACB14F49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52450"/>
            <a:ext cx="12192000" cy="5753100"/>
          </a:xfrm>
          <a:prstGeom prst="rect">
            <a:avLst/>
          </a:prstGeom>
        </p:spPr>
      </p:pic>
    </p:spTree>
    <p:extLst>
      <p:ext uri="{BB962C8B-B14F-4D97-AF65-F5344CB8AC3E}">
        <p14:creationId xmlns:p14="http://schemas.microsoft.com/office/powerpoint/2010/main" val="996509178"/>
      </p:ext>
    </p:extLst>
  </p:cSld>
  <p:clrMapOvr>
    <a:masterClrMapping/>
  </p:clrMapOvr>
  <p:transition spd="slow">
    <p:cove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ekran görüntüsü, metin, yazılım, multimedya yazılımı içeren bir resim&#10;&#10;Yapay zeka tarafından oluşturulan içerik yanlış olabilir.">
            <a:extLst>
              <a:ext uri="{FF2B5EF4-FFF2-40B4-BE49-F238E27FC236}">
                <a16:creationId xmlns:a16="http://schemas.microsoft.com/office/drawing/2014/main" id="{2585248F-E007-74F1-1746-B622CDB045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90550"/>
            <a:ext cx="12192000" cy="5715000"/>
          </a:xfrm>
          <a:prstGeom prst="rect">
            <a:avLst/>
          </a:prstGeom>
        </p:spPr>
      </p:pic>
    </p:spTree>
    <p:extLst>
      <p:ext uri="{BB962C8B-B14F-4D97-AF65-F5344CB8AC3E}">
        <p14:creationId xmlns:p14="http://schemas.microsoft.com/office/powerpoint/2010/main" val="454347381"/>
      </p:ext>
    </p:extLst>
  </p:cSld>
  <p:clrMapOvr>
    <a:masterClrMapping/>
  </p:clrMapOvr>
  <p:transition spd="slow">
    <p:cove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ekran görüntüsü, metin, yazılım, multimedya yazılımı içeren bir resim&#10;&#10;Yapay zeka tarafından oluşturulan içerik yanlış olabilir.">
            <a:extLst>
              <a:ext uri="{FF2B5EF4-FFF2-40B4-BE49-F238E27FC236}">
                <a16:creationId xmlns:a16="http://schemas.microsoft.com/office/drawing/2014/main" id="{DF76A6C8-34F0-3732-F34E-7899051ED7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1975"/>
            <a:ext cx="12192000" cy="5734050"/>
          </a:xfrm>
          <a:prstGeom prst="rect">
            <a:avLst/>
          </a:prstGeom>
        </p:spPr>
      </p:pic>
    </p:spTree>
    <p:extLst>
      <p:ext uri="{BB962C8B-B14F-4D97-AF65-F5344CB8AC3E}">
        <p14:creationId xmlns:p14="http://schemas.microsoft.com/office/powerpoint/2010/main" val="1067271818"/>
      </p:ext>
    </p:extLst>
  </p:cSld>
  <p:clrMapOvr>
    <a:masterClrMapping/>
  </p:clrMapOvr>
  <p:transition spd="slow">
    <p:cove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yazılım, multimedya yazılımı, ekran görüntüsü içeren bir resim&#10;&#10;Yapay zeka tarafından oluşturulan içerik yanlış olabilir.">
            <a:extLst>
              <a:ext uri="{FF2B5EF4-FFF2-40B4-BE49-F238E27FC236}">
                <a16:creationId xmlns:a16="http://schemas.microsoft.com/office/drawing/2014/main" id="{196302DA-BA86-8BE7-E98A-94A89DFAAE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6250"/>
            <a:ext cx="12192000" cy="5905500"/>
          </a:xfrm>
          <a:prstGeom prst="rect">
            <a:avLst/>
          </a:prstGeom>
        </p:spPr>
      </p:pic>
    </p:spTree>
    <p:extLst>
      <p:ext uri="{BB962C8B-B14F-4D97-AF65-F5344CB8AC3E}">
        <p14:creationId xmlns:p14="http://schemas.microsoft.com/office/powerpoint/2010/main" val="135142261"/>
      </p:ext>
    </p:extLst>
  </p:cSld>
  <p:clrMapOvr>
    <a:masterClrMapping/>
  </p:clrMapOvr>
  <p:transition spd="slow">
    <p:cove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descr="metin, yazılım, multimedya yazılımı, ekran görüntüsü içeren bir resim&#10;&#10;Yapay zeka tarafından oluşturulan içerik yanlış olabilir.">
            <a:extLst>
              <a:ext uri="{FF2B5EF4-FFF2-40B4-BE49-F238E27FC236}">
                <a16:creationId xmlns:a16="http://schemas.microsoft.com/office/drawing/2014/main" id="{081BF6ED-240C-C8E2-C791-70D896F1F4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09587"/>
            <a:ext cx="12192000" cy="5838825"/>
          </a:xfrm>
          <a:prstGeom prst="rect">
            <a:avLst/>
          </a:prstGeom>
        </p:spPr>
      </p:pic>
    </p:spTree>
    <p:extLst>
      <p:ext uri="{BB962C8B-B14F-4D97-AF65-F5344CB8AC3E}">
        <p14:creationId xmlns:p14="http://schemas.microsoft.com/office/powerpoint/2010/main" val="1478555767"/>
      </p:ext>
    </p:extLst>
  </p:cSld>
  <p:clrMapOvr>
    <a:masterClrMapping/>
  </p:clrMapOvr>
  <p:transition spd="slow">
    <p:cove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FC9DC3D-B914-0B7F-E0D5-289D7D29BEB2}"/>
              </a:ext>
            </a:extLst>
          </p:cNvPr>
          <p:cNvSpPr>
            <a:spLocks noGrp="1"/>
          </p:cNvSpPr>
          <p:nvPr>
            <p:ph type="title"/>
          </p:nvPr>
        </p:nvSpPr>
        <p:spPr/>
        <p:txBody>
          <a:bodyPr/>
          <a:lstStyle/>
          <a:p>
            <a:r>
              <a:rPr lang="tr-TR" dirty="0"/>
              <a:t>                </a:t>
            </a:r>
            <a:r>
              <a:rPr lang="tr-TR" dirty="0" err="1"/>
              <a:t>Those</a:t>
            </a:r>
            <a:r>
              <a:rPr lang="tr-TR" dirty="0"/>
              <a:t> </a:t>
            </a:r>
            <a:r>
              <a:rPr lang="tr-TR" dirty="0" err="1"/>
              <a:t>Who</a:t>
            </a:r>
            <a:r>
              <a:rPr lang="tr-TR" dirty="0"/>
              <a:t> </a:t>
            </a:r>
            <a:r>
              <a:rPr lang="tr-TR" dirty="0" err="1"/>
              <a:t>Prepared</a:t>
            </a:r>
            <a:endParaRPr lang="tr-TR" dirty="0"/>
          </a:p>
        </p:txBody>
      </p:sp>
      <p:sp>
        <p:nvSpPr>
          <p:cNvPr id="3" name="İçerik Yer Tutucusu 2">
            <a:extLst>
              <a:ext uri="{FF2B5EF4-FFF2-40B4-BE49-F238E27FC236}">
                <a16:creationId xmlns:a16="http://schemas.microsoft.com/office/drawing/2014/main" id="{A3A04B53-2E45-142A-6FFF-15C649517767}"/>
              </a:ext>
            </a:extLst>
          </p:cNvPr>
          <p:cNvSpPr>
            <a:spLocks noGrp="1"/>
          </p:cNvSpPr>
          <p:nvPr>
            <p:ph idx="1"/>
          </p:nvPr>
        </p:nvSpPr>
        <p:spPr/>
        <p:txBody>
          <a:bodyPr/>
          <a:lstStyle/>
          <a:p>
            <a:r>
              <a:rPr lang="tr-TR" dirty="0"/>
              <a:t>Semih Nebi TOKALAK</a:t>
            </a:r>
          </a:p>
          <a:p>
            <a:r>
              <a:rPr lang="tr-TR" dirty="0"/>
              <a:t>Hamza KALAYCI</a:t>
            </a:r>
          </a:p>
          <a:p>
            <a:r>
              <a:rPr lang="tr-TR" dirty="0"/>
              <a:t>Sudenaz SÜZGEN</a:t>
            </a:r>
          </a:p>
          <a:p>
            <a:r>
              <a:rPr lang="tr-TR" dirty="0"/>
              <a:t>Batuhan ÇİNE</a:t>
            </a:r>
          </a:p>
        </p:txBody>
      </p:sp>
    </p:spTree>
    <p:extLst>
      <p:ext uri="{BB962C8B-B14F-4D97-AF65-F5344CB8AC3E}">
        <p14:creationId xmlns:p14="http://schemas.microsoft.com/office/powerpoint/2010/main" val="14097465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yon Toplantı Odası">
  <a:themeElements>
    <a:clrScheme name="İyon Toplantı Odası">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yon Toplantı Odası">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yon Toplantı Odası">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353</TotalTime>
  <Words>771</Words>
  <Application>Microsoft Office PowerPoint</Application>
  <PresentationFormat>Widescreen</PresentationFormat>
  <Paragraphs>62</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İyon Toplantı Odası</vt:lpstr>
      <vt:lpstr>DATABASE PROJECT</vt:lpstr>
      <vt:lpstr>                 Subject of the Project</vt:lpstr>
      <vt:lpstr>                        Entity Definitions</vt:lpstr>
      <vt:lpstr>                        Entity Definitions</vt:lpstr>
      <vt:lpstr>                        Entity Definitions</vt:lpstr>
      <vt:lpstr>                            Developing  ERD</vt:lpstr>
      <vt:lpstr>PowerPoint Presentation</vt:lpstr>
      <vt:lpstr>PowerPoint Presentation</vt:lpstr>
      <vt:lpstr>      Creating Tables and Created Tables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Writing SQL DML Statements to reach information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Those Who Prepared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Batuhan ÇİNE</dc:creator>
  <cp:lastModifiedBy>Batuhan ÇİNE</cp:lastModifiedBy>
  <cp:revision>7</cp:revision>
  <dcterms:created xsi:type="dcterms:W3CDTF">2025-05-07T10:14:20Z</dcterms:created>
  <dcterms:modified xsi:type="dcterms:W3CDTF">2025-05-10T17:13:41Z</dcterms:modified>
</cp:coreProperties>
</file>